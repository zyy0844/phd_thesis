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"/>
  </p:notesMasterIdLst>
  <p:sldIdLst>
    <p:sldId id="553" r:id="rId2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ang, Yuanyuan" initials="ZY" lastIdx="1" clrIdx="0">
    <p:extLst>
      <p:ext uri="{19B8F6BF-5375-455C-9EA6-DF929625EA0E}">
        <p15:presenceInfo xmlns:p15="http://schemas.microsoft.com/office/powerpoint/2012/main" userId="S::yz8620@ic.ac.uk::f9116fea-3e58-421d-893a-e0ed7012a8d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38234"/>
    <a:srgbClr val="767171"/>
    <a:srgbClr val="385723"/>
    <a:srgbClr val="A9D18E"/>
    <a:srgbClr val="BF9001"/>
    <a:srgbClr val="FFD966"/>
    <a:srgbClr val="F7E19E"/>
    <a:srgbClr val="9E480D"/>
    <a:srgbClr val="843C0B"/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9" autoAdjust="0"/>
    <p:restoredTop sz="97030"/>
  </p:normalViewPr>
  <p:slideViewPr>
    <p:cSldViewPr snapToGrid="0">
      <p:cViewPr varScale="1">
        <p:scale>
          <a:sx n="125" d="100"/>
          <a:sy n="125" d="100"/>
        </p:scale>
        <p:origin x="160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2025/8/20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Already</a:t>
            </a:r>
            <a:r>
              <a:rPr lang="zh-CN" altLang="en-US" dirty="0"/>
              <a:t> </a:t>
            </a:r>
            <a:r>
              <a:rPr lang="en-US" altLang="zh-CN" dirty="0"/>
              <a:t>graduated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will</a:t>
            </a:r>
            <a:r>
              <a:rPr lang="zh-CN" altLang="en-US" dirty="0"/>
              <a:t> </a:t>
            </a:r>
            <a:r>
              <a:rPr lang="en-US" altLang="zh-CN" dirty="0"/>
              <a:t>get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degree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November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93812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22929-8D04-F84D-8435-1F93213EE224}" type="datetime1">
              <a:rPr lang="zh-CN" altLang="en-US" smtClean="0"/>
              <a:t>2025/8/20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771A7-465B-7947-83B1-CB7238E27686}" type="datetime1">
              <a:rPr lang="zh-CN" altLang="en-US" smtClean="0"/>
              <a:t>2025/8/20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9B366-E249-8545-982D-E96378BBAC2D}" type="datetime1">
              <a:rPr lang="zh-CN" altLang="en-US" smtClean="0"/>
              <a:t>2025/8/20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1AC20-6770-D34F-9308-718C0AE9D568}" type="datetime1">
              <a:rPr lang="zh-CN" altLang="en-US" smtClean="0"/>
              <a:t>2025/8/20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94035-B419-9245-86B4-CB668996A490}" type="datetime1">
              <a:rPr lang="zh-CN" altLang="en-US" smtClean="0"/>
              <a:t>2025/8/20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5C118-A5A8-D94E-86CF-BA313BA47A0D}" type="datetime1">
              <a:rPr lang="zh-CN" altLang="en-US" smtClean="0"/>
              <a:t>2025/8/20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946C2-2F8B-5D4C-AB7E-A009B6015ABB}" type="datetime1">
              <a:rPr lang="zh-CN" altLang="en-US" smtClean="0"/>
              <a:t>2025/8/20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188A3-47F4-C64A-965B-8F6A2766F8DD}" type="datetime1">
              <a:rPr lang="zh-CN" altLang="en-US" smtClean="0"/>
              <a:t>2025/8/20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AF128-6D76-D64D-9F16-F819398E651E}" type="datetime1">
              <a:rPr lang="zh-CN" altLang="en-US" smtClean="0"/>
              <a:t>2025/8/20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4EF3B-EB08-DE4D-8F1F-D62D9AC84E58}" type="datetime1">
              <a:rPr lang="zh-CN" altLang="en-US" smtClean="0"/>
              <a:t>2025/8/20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4AF6E1-9D43-E74D-8E5B-6DC1FA663828}" type="datetime1">
              <a:rPr lang="zh-CN" altLang="en-US" smtClean="0"/>
              <a:t>2025/8/20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FB35E4-0445-EF76-0775-2A7CD932C968}"/>
              </a:ext>
            </a:extLst>
          </p:cNvPr>
          <p:cNvSpPr/>
          <p:nvPr/>
        </p:nvSpPr>
        <p:spPr>
          <a:xfrm>
            <a:off x="1942950" y="442168"/>
            <a:ext cx="5412889" cy="396031"/>
          </a:xfrm>
          <a:prstGeom prst="rect">
            <a:avLst/>
          </a:prstGeom>
          <a:solidFill>
            <a:schemeClr val="bg2"/>
          </a:solidFill>
          <a:ln w="2222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All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Data</a:t>
            </a:r>
            <a:endParaRPr lang="en-CN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B98FAD-765C-DAFE-A6A6-E4F7BB1B0C18}"/>
              </a:ext>
            </a:extLst>
          </p:cNvPr>
          <p:cNvSpPr/>
          <p:nvPr/>
        </p:nvSpPr>
        <p:spPr>
          <a:xfrm>
            <a:off x="1942949" y="988268"/>
            <a:ext cx="3777131" cy="396031"/>
          </a:xfrm>
          <a:prstGeom prst="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Training</a:t>
            </a:r>
            <a:endParaRPr lang="en-CN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ACD119-B7A5-99F6-E088-A062615D1CB6}"/>
              </a:ext>
            </a:extLst>
          </p:cNvPr>
          <p:cNvSpPr/>
          <p:nvPr/>
        </p:nvSpPr>
        <p:spPr>
          <a:xfrm>
            <a:off x="5854891" y="988268"/>
            <a:ext cx="1500949" cy="396031"/>
          </a:xfrm>
          <a:prstGeom prst="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Testing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(Fixed)</a:t>
            </a:r>
            <a:endParaRPr lang="en-CN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120B97-3C35-843D-5AC6-92260B21D5D1}"/>
              </a:ext>
            </a:extLst>
          </p:cNvPr>
          <p:cNvSpPr txBox="1"/>
          <p:nvPr/>
        </p:nvSpPr>
        <p:spPr>
          <a:xfrm>
            <a:off x="7355839" y="1514425"/>
            <a:ext cx="2006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For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testing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the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well-trained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model</a:t>
            </a:r>
            <a:endParaRPr lang="en-C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25331F-9BA2-2C76-A9C5-348A1358A445}"/>
              </a:ext>
            </a:extLst>
          </p:cNvPr>
          <p:cNvSpPr txBox="1"/>
          <p:nvPr/>
        </p:nvSpPr>
        <p:spPr>
          <a:xfrm>
            <a:off x="139736" y="3544157"/>
            <a:ext cx="1269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Each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Epoch</a:t>
            </a:r>
            <a:endParaRPr lang="en-CN" dirty="0"/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6058CB3B-D864-D7E3-694D-3364202873E9}"/>
              </a:ext>
            </a:extLst>
          </p:cNvPr>
          <p:cNvSpPr/>
          <p:nvPr/>
        </p:nvSpPr>
        <p:spPr>
          <a:xfrm>
            <a:off x="1428730" y="2555446"/>
            <a:ext cx="355449" cy="2346754"/>
          </a:xfrm>
          <a:prstGeom prst="leftBrac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D54874-B2D0-59C4-C77E-0233BFDC5968}"/>
              </a:ext>
            </a:extLst>
          </p:cNvPr>
          <p:cNvSpPr/>
          <p:nvPr/>
        </p:nvSpPr>
        <p:spPr>
          <a:xfrm>
            <a:off x="1942949" y="1757527"/>
            <a:ext cx="914551" cy="3960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22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Fold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endParaRPr lang="en-CN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A9736C6-AAEB-343E-19E3-47EC4302D4EA}"/>
              </a:ext>
            </a:extLst>
          </p:cNvPr>
          <p:cNvSpPr/>
          <p:nvPr/>
        </p:nvSpPr>
        <p:spPr>
          <a:xfrm>
            <a:off x="3073173" y="1757526"/>
            <a:ext cx="914551" cy="3960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22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Fold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endParaRPr lang="en-CN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4677695-FD86-C2D8-9ED9-7DF72DB97556}"/>
              </a:ext>
            </a:extLst>
          </p:cNvPr>
          <p:cNvSpPr/>
          <p:nvPr/>
        </p:nvSpPr>
        <p:spPr>
          <a:xfrm>
            <a:off x="4724668" y="1757526"/>
            <a:ext cx="914551" cy="3960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22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Fold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10</a:t>
            </a:r>
            <a:endParaRPr lang="en-CN" dirty="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34227D-4CEF-48AE-A4D4-3C72FB90E9F6}"/>
              </a:ext>
            </a:extLst>
          </p:cNvPr>
          <p:cNvSpPr txBox="1"/>
          <p:nvPr/>
        </p:nvSpPr>
        <p:spPr>
          <a:xfrm>
            <a:off x="3911829" y="1601027"/>
            <a:ext cx="723900" cy="22315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</a:rPr>
              <a:t>…</a:t>
            </a:r>
            <a:endParaRPr lang="en-CN" sz="2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1A3389-8BFE-33C6-2E84-A943D881EF38}"/>
              </a:ext>
            </a:extLst>
          </p:cNvPr>
          <p:cNvSpPr txBox="1"/>
          <p:nvPr/>
        </p:nvSpPr>
        <p:spPr>
          <a:xfrm>
            <a:off x="263461" y="1757526"/>
            <a:ext cx="1047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Split</a:t>
            </a:r>
            <a:endParaRPr lang="en-CN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3D0A64-4E48-8C1B-3FC7-DBA6C979FC37}"/>
              </a:ext>
            </a:extLst>
          </p:cNvPr>
          <p:cNvSpPr/>
          <p:nvPr/>
        </p:nvSpPr>
        <p:spPr>
          <a:xfrm>
            <a:off x="1942949" y="2601195"/>
            <a:ext cx="914551" cy="3960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22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Fold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endParaRPr lang="en-CN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354AA76-6B57-F1E3-0D4D-87EF084DF67F}"/>
              </a:ext>
            </a:extLst>
          </p:cNvPr>
          <p:cNvSpPr/>
          <p:nvPr/>
        </p:nvSpPr>
        <p:spPr>
          <a:xfrm>
            <a:off x="3073173" y="2601194"/>
            <a:ext cx="914551" cy="3960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22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Fold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endParaRPr lang="en-CN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A6FF88C-A615-F8F5-D538-23FC84914784}"/>
              </a:ext>
            </a:extLst>
          </p:cNvPr>
          <p:cNvSpPr/>
          <p:nvPr/>
        </p:nvSpPr>
        <p:spPr>
          <a:xfrm>
            <a:off x="4724668" y="2601194"/>
            <a:ext cx="914551" cy="3960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22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Fold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10</a:t>
            </a:r>
            <a:endParaRPr lang="en-CN" dirty="0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05962DE-E0F7-48B2-C674-0ED35C103A44}"/>
              </a:ext>
            </a:extLst>
          </p:cNvPr>
          <p:cNvSpPr txBox="1"/>
          <p:nvPr/>
        </p:nvSpPr>
        <p:spPr>
          <a:xfrm>
            <a:off x="3911829" y="2443868"/>
            <a:ext cx="723900" cy="22315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</a:rPr>
              <a:t>…</a:t>
            </a:r>
            <a:endParaRPr lang="en-CN" sz="28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379B174-5BDC-2851-B01C-C60D202CD5F9}"/>
              </a:ext>
            </a:extLst>
          </p:cNvPr>
          <p:cNvSpPr/>
          <p:nvPr/>
        </p:nvSpPr>
        <p:spPr>
          <a:xfrm>
            <a:off x="1942949" y="3227750"/>
            <a:ext cx="914551" cy="3960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22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Fold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endParaRPr lang="en-CN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72018E8-0392-1CE8-954D-0EB9F1622CA5}"/>
              </a:ext>
            </a:extLst>
          </p:cNvPr>
          <p:cNvSpPr/>
          <p:nvPr/>
        </p:nvSpPr>
        <p:spPr>
          <a:xfrm>
            <a:off x="3073173" y="3227749"/>
            <a:ext cx="914551" cy="3960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22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Fold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endParaRPr lang="en-CN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DEC69BB-DBE8-9E29-012F-1CD6DF0409A8}"/>
              </a:ext>
            </a:extLst>
          </p:cNvPr>
          <p:cNvSpPr/>
          <p:nvPr/>
        </p:nvSpPr>
        <p:spPr>
          <a:xfrm>
            <a:off x="4724668" y="3227749"/>
            <a:ext cx="914551" cy="3960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22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Fold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10</a:t>
            </a:r>
            <a:endParaRPr lang="en-CN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2F5CA6-8A6C-3788-33CF-184F139AF3BA}"/>
              </a:ext>
            </a:extLst>
          </p:cNvPr>
          <p:cNvSpPr txBox="1"/>
          <p:nvPr/>
        </p:nvSpPr>
        <p:spPr>
          <a:xfrm>
            <a:off x="3911829" y="3070423"/>
            <a:ext cx="723900" cy="22315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</a:rPr>
              <a:t>…</a:t>
            </a:r>
            <a:endParaRPr lang="en-CN" sz="28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CADD555-250E-6D92-9BDE-42F100FBC50C}"/>
              </a:ext>
            </a:extLst>
          </p:cNvPr>
          <p:cNvSpPr/>
          <p:nvPr/>
        </p:nvSpPr>
        <p:spPr>
          <a:xfrm>
            <a:off x="1942949" y="4283135"/>
            <a:ext cx="914551" cy="3960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22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Fold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endParaRPr lang="en-CN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E155154-96E9-D2C6-C5C8-896CD736798E}"/>
              </a:ext>
            </a:extLst>
          </p:cNvPr>
          <p:cNvSpPr/>
          <p:nvPr/>
        </p:nvSpPr>
        <p:spPr>
          <a:xfrm>
            <a:off x="3073173" y="4283134"/>
            <a:ext cx="914551" cy="3960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22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Fold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endParaRPr lang="en-CN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AB2129D-EAFD-241A-A80E-7E34AD4DD380}"/>
              </a:ext>
            </a:extLst>
          </p:cNvPr>
          <p:cNvSpPr/>
          <p:nvPr/>
        </p:nvSpPr>
        <p:spPr>
          <a:xfrm>
            <a:off x="4724668" y="4283134"/>
            <a:ext cx="914551" cy="3960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22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Fold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10</a:t>
            </a:r>
            <a:endParaRPr lang="en-CN" dirty="0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81DB6B6-37D8-8F44-74FF-3D73CA4CF8D0}"/>
              </a:ext>
            </a:extLst>
          </p:cNvPr>
          <p:cNvSpPr txBox="1"/>
          <p:nvPr/>
        </p:nvSpPr>
        <p:spPr>
          <a:xfrm>
            <a:off x="3911829" y="4125808"/>
            <a:ext cx="723900" cy="22315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</a:rPr>
              <a:t>…</a:t>
            </a:r>
            <a:endParaRPr lang="en-CN" sz="28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E8208CC-91AC-8AFF-5C6E-545B78DE89AA}"/>
              </a:ext>
            </a:extLst>
          </p:cNvPr>
          <p:cNvSpPr txBox="1"/>
          <p:nvPr/>
        </p:nvSpPr>
        <p:spPr>
          <a:xfrm rot="5400000">
            <a:off x="3428423" y="3862982"/>
            <a:ext cx="723900" cy="22315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</a:rPr>
              <a:t>…</a:t>
            </a:r>
            <a:endParaRPr lang="en-CN" sz="2800" dirty="0"/>
          </a:p>
        </p:txBody>
      </p:sp>
      <p:sp>
        <p:nvSpPr>
          <p:cNvPr id="43" name="TextBox 39">
            <a:extLst>
              <a:ext uri="{FF2B5EF4-FFF2-40B4-BE49-F238E27FC236}">
                <a16:creationId xmlns:a16="http://schemas.microsoft.com/office/drawing/2014/main" id="{857206B0-F7C7-A3A1-44E7-3E3EC6DC15B0}"/>
              </a:ext>
            </a:extLst>
          </p:cNvPr>
          <p:cNvSpPr txBox="1"/>
          <p:nvPr/>
        </p:nvSpPr>
        <p:spPr>
          <a:xfrm>
            <a:off x="1409696" y="5047211"/>
            <a:ext cx="4677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rgbClr val="538234"/>
                </a:solidFill>
              </a:rPr>
              <a:t>Alternatively use</a:t>
            </a:r>
            <a:r>
              <a:rPr lang="zh-CN" altLang="en-US" dirty="0">
                <a:solidFill>
                  <a:srgbClr val="538234"/>
                </a:solidFill>
              </a:rPr>
              <a:t> </a:t>
            </a:r>
            <a:r>
              <a:rPr lang="en-US" altLang="zh-CN" dirty="0">
                <a:solidFill>
                  <a:srgbClr val="538234"/>
                </a:solidFill>
              </a:rPr>
              <a:t>green</a:t>
            </a:r>
            <a:r>
              <a:rPr lang="zh-CN" altLang="en-US" dirty="0">
                <a:solidFill>
                  <a:srgbClr val="538234"/>
                </a:solidFill>
              </a:rPr>
              <a:t> </a:t>
            </a:r>
            <a:r>
              <a:rPr lang="en-US" altLang="zh-CN" dirty="0">
                <a:solidFill>
                  <a:srgbClr val="538234"/>
                </a:solidFill>
              </a:rPr>
              <a:t>Fold</a:t>
            </a:r>
            <a:r>
              <a:rPr lang="zh-CN" altLang="en-US" dirty="0">
                <a:solidFill>
                  <a:srgbClr val="538234"/>
                </a:solidFill>
              </a:rPr>
              <a:t> </a:t>
            </a:r>
            <a:r>
              <a:rPr lang="en-US" altLang="zh-CN" dirty="0">
                <a:solidFill>
                  <a:srgbClr val="538234"/>
                </a:solidFill>
              </a:rPr>
              <a:t>for</a:t>
            </a:r>
            <a:r>
              <a:rPr lang="zh-CN" altLang="en-US" dirty="0">
                <a:solidFill>
                  <a:srgbClr val="538234"/>
                </a:solidFill>
              </a:rPr>
              <a:t> </a:t>
            </a:r>
            <a:r>
              <a:rPr lang="en-US" altLang="zh-CN" dirty="0">
                <a:solidFill>
                  <a:srgbClr val="538234"/>
                </a:solidFill>
              </a:rPr>
              <a:t>validation</a:t>
            </a:r>
            <a:endParaRPr lang="en-CN" dirty="0">
              <a:solidFill>
                <a:srgbClr val="538234"/>
              </a:solidFill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399EAA6-0A45-AF5F-2467-A2D66BAFFE73}"/>
              </a:ext>
            </a:extLst>
          </p:cNvPr>
          <p:cNvCxnSpPr>
            <a:cxnSpLocks/>
            <a:stCxn id="6" idx="3"/>
            <a:endCxn id="10" idx="0"/>
          </p:cNvCxnSpPr>
          <p:nvPr/>
        </p:nvCxnSpPr>
        <p:spPr>
          <a:xfrm>
            <a:off x="7355840" y="1186284"/>
            <a:ext cx="1003299" cy="32814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Left Brace 45">
            <a:extLst>
              <a:ext uri="{FF2B5EF4-FFF2-40B4-BE49-F238E27FC236}">
                <a16:creationId xmlns:a16="http://schemas.microsoft.com/office/drawing/2014/main" id="{694FB1E3-E424-1B04-8093-D2C813C50457}"/>
              </a:ext>
            </a:extLst>
          </p:cNvPr>
          <p:cNvSpPr/>
          <p:nvPr/>
        </p:nvSpPr>
        <p:spPr>
          <a:xfrm rot="10800000">
            <a:off x="5854891" y="2555446"/>
            <a:ext cx="355449" cy="2346754"/>
          </a:xfrm>
          <a:prstGeom prst="leftBrac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CE60838-FECC-AAEE-BACD-FB31007ED282}"/>
              </a:ext>
            </a:extLst>
          </p:cNvPr>
          <p:cNvSpPr txBox="1"/>
          <p:nvPr/>
        </p:nvSpPr>
        <p:spPr>
          <a:xfrm>
            <a:off x="6202807" y="3267158"/>
            <a:ext cx="259863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Average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/>
              <a:t>loss</a:t>
            </a:r>
            <a:r>
              <a:rPr lang="zh-CN" altLang="en-US" dirty="0"/>
              <a:t> </a:t>
            </a:r>
            <a:r>
              <a:rPr lang="en-US" altLang="zh-CN" dirty="0"/>
              <a:t>value</a:t>
            </a:r>
            <a:r>
              <a:rPr lang="zh-CN" altLang="en-US" dirty="0"/>
              <a:t> </a:t>
            </a:r>
            <a:r>
              <a:rPr lang="en-US" altLang="zh-CN" dirty="0"/>
              <a:t>across</a:t>
            </a:r>
            <a:r>
              <a:rPr lang="zh-CN" altLang="en-US" dirty="0"/>
              <a:t> </a:t>
            </a:r>
            <a:r>
              <a:rPr lang="en-US" altLang="zh-CN" dirty="0"/>
              <a:t>5</a:t>
            </a:r>
            <a:r>
              <a:rPr lang="zh-CN" altLang="en-US" dirty="0"/>
              <a:t> </a:t>
            </a:r>
            <a:r>
              <a:rPr lang="en-US" altLang="zh-CN" dirty="0"/>
              <a:t>validations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final</a:t>
            </a:r>
            <a:r>
              <a:rPr lang="zh-CN" altLang="en-US" dirty="0"/>
              <a:t> </a:t>
            </a:r>
            <a:r>
              <a:rPr lang="en-US" altLang="zh-CN" dirty="0"/>
              <a:t>loss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epoch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02612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55937</TotalTime>
  <Words>72</Words>
  <Application>Microsoft Macintosh PowerPoint</Application>
  <PresentationFormat>Widescreen</PresentationFormat>
  <Paragraphs>26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</dc:creator>
  <cp:lastModifiedBy>Zhang, Yuanyuan [sgyzh127]</cp:lastModifiedBy>
  <cp:revision>231</cp:revision>
  <cp:lastPrinted>2021-09-11T15:09:31Z</cp:lastPrinted>
  <dcterms:created xsi:type="dcterms:W3CDTF">2021-09-09T10:17:34Z</dcterms:created>
  <dcterms:modified xsi:type="dcterms:W3CDTF">2025-08-20T04:30:30Z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2052-3.1.1.4956</vt:lpwstr>
  </property>
</Properties>
</file>