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sldIdLst>
    <p:sldId id="557" r:id="rId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, Yuanyuan" initials="ZY" lastIdx="1" clrIdx="0">
    <p:extLst>
      <p:ext uri="{19B8F6BF-5375-455C-9EA6-DF929625EA0E}">
        <p15:presenceInfo xmlns:p15="http://schemas.microsoft.com/office/powerpoint/2012/main" userId="S::yz8620@ic.ac.uk::f9116fea-3e58-421d-893a-e0ed7012a8d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CCE3BC"/>
    <a:srgbClr val="A9D18E"/>
    <a:srgbClr val="767171"/>
    <a:srgbClr val="538234"/>
    <a:srgbClr val="BF9001"/>
    <a:srgbClr val="FFD966"/>
    <a:srgbClr val="F7E19E"/>
    <a:srgbClr val="9E480D"/>
    <a:srgbClr val="843C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09" autoAdjust="0"/>
    <p:restoredTop sz="97030"/>
  </p:normalViewPr>
  <p:slideViewPr>
    <p:cSldViewPr snapToGrid="0">
      <p:cViewPr varScale="1">
        <p:scale>
          <a:sx n="128" d="100"/>
          <a:sy n="128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graduated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degree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November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4936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22929-8D04-F84D-8435-1F93213EE224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771A7-465B-7947-83B1-CB7238E27686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B366-E249-8545-982D-E96378BBAC2D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AC20-6770-D34F-9308-718C0AE9D568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4035-B419-9245-86B4-CB668996A490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C118-A5A8-D94E-86CF-BA313BA47A0D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46C2-2F8B-5D4C-AB7E-A009B6015ABB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188A3-47F4-C64A-965B-8F6A2766F8DD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F128-6D76-D64D-9F16-F819398E651E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EF3B-EB08-DE4D-8F1F-D62D9AC84E58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AF6E1-9D43-E74D-8E5B-6DC1FA663828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image" Target="../media/image9.emf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12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7.emf"/><Relationship Id="rId5" Type="http://schemas.openxmlformats.org/officeDocument/2006/relationships/image" Target="../media/image3.emf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2.emf"/><Relationship Id="rId9" Type="http://schemas.openxmlformats.org/officeDocument/2006/relationships/image" Target="../media/image6.emf"/><Relationship Id="rId1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95">
            <a:extLst>
              <a:ext uri="{FF2B5EF4-FFF2-40B4-BE49-F238E27FC236}">
                <a16:creationId xmlns:a16="http://schemas.microsoft.com/office/drawing/2014/main" id="{667C0E5E-3912-796B-1B1B-60BA9474A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8228" y="374705"/>
            <a:ext cx="1832385" cy="1093399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E4CA059D-28E3-CDC9-977D-FD16E58AC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8208" y="671351"/>
            <a:ext cx="1824856" cy="1093405"/>
          </a:xfrm>
          <a:prstGeom prst="rect">
            <a:avLst/>
          </a:prstGeom>
        </p:spPr>
      </p:pic>
      <p:pic>
        <p:nvPicPr>
          <p:cNvPr id="187" name="Picture 186">
            <a:extLst>
              <a:ext uri="{FF2B5EF4-FFF2-40B4-BE49-F238E27FC236}">
                <a16:creationId xmlns:a16="http://schemas.microsoft.com/office/drawing/2014/main" id="{C66A384E-9E14-51FB-A122-5679A903E9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6160" y="438643"/>
            <a:ext cx="1799354" cy="96314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830BBBC0-C54C-0FA1-6634-2E5861F156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168" y="2636389"/>
            <a:ext cx="1655999" cy="8864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C8CF7C-0090-50C7-EEEF-4A7EDADC3C88}"/>
                  </a:ext>
                </a:extLst>
              </p:cNvPr>
              <p:cNvSpPr txBox="1"/>
              <p:nvPr/>
            </p:nvSpPr>
            <p:spPr>
              <a:xfrm>
                <a:off x="420871" y="4326086"/>
                <a:ext cx="24106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b="1" kern="1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Inputs:</a:t>
                </a:r>
                <a:r>
                  <a:rPr lang="zh-CN" altLang="en-US" sz="1200" kern="1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200" kern="100" dirty="0">
                    <a:latin typeface="Times New Roman" panose="02020603050405020304" pitchFamily="18" charset="0"/>
                  </a:rPr>
                  <a:t>Raw</a:t>
                </a:r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200" kern="100" dirty="0">
                    <a:latin typeface="Times New Roman" panose="02020603050405020304" pitchFamily="18" charset="0"/>
                  </a:rPr>
                  <a:t>Radar Signals</a:t>
                </a:r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200" kern="100" dirty="0">
                    <a:latin typeface="Times New Roman" panose="02020603050405020304" pitchFamily="18" charset="0"/>
                  </a:rPr>
                  <a:t>50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C8CF7C-0090-50C7-EEEF-4A7EDADC3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71" y="4326086"/>
                <a:ext cx="2410632" cy="276999"/>
              </a:xfrm>
              <a:prstGeom prst="rect">
                <a:avLst/>
              </a:prstGeom>
              <a:blipFill>
                <a:blip r:embed="rId7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Picture 65">
            <a:extLst>
              <a:ext uri="{FF2B5EF4-FFF2-40B4-BE49-F238E27FC236}">
                <a16:creationId xmlns:a16="http://schemas.microsoft.com/office/drawing/2014/main" id="{2E1D71E0-FD44-5020-8688-B2CAD258D5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411" y="3233958"/>
            <a:ext cx="2160000" cy="115714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2CAF6D23-BD62-22D4-6C8C-54007BE7E3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396" y="1030646"/>
            <a:ext cx="2160000" cy="1200000"/>
          </a:xfrm>
          <a:prstGeom prst="rect">
            <a:avLst/>
          </a:prstGeom>
        </p:spPr>
      </p:pic>
      <p:cxnSp>
        <p:nvCxnSpPr>
          <p:cNvPr id="119" name="直线箭头连接符 256">
            <a:extLst>
              <a:ext uri="{FF2B5EF4-FFF2-40B4-BE49-F238E27FC236}">
                <a16:creationId xmlns:a16="http://schemas.microsoft.com/office/drawing/2014/main" id="{977C6EBB-CC0D-D45C-9C6E-5211EC03C410}"/>
              </a:ext>
            </a:extLst>
          </p:cNvPr>
          <p:cNvCxnSpPr>
            <a:cxnSpLocks/>
            <a:stCxn id="158" idx="3"/>
            <a:endCxn id="208" idx="1"/>
          </p:cNvCxnSpPr>
          <p:nvPr/>
        </p:nvCxnSpPr>
        <p:spPr>
          <a:xfrm>
            <a:off x="2970357" y="1288418"/>
            <a:ext cx="407336" cy="1"/>
          </a:xfrm>
          <a:prstGeom prst="straightConnector1">
            <a:avLst/>
          </a:prstGeom>
          <a:ln w="38100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FD01728-D452-DA30-65E8-7BA364E24548}"/>
                  </a:ext>
                </a:extLst>
              </p:cNvPr>
              <p:cNvSpPr txBox="1"/>
              <p:nvPr/>
            </p:nvSpPr>
            <p:spPr>
              <a:xfrm>
                <a:off x="282997" y="2150452"/>
                <a:ext cx="26302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kern="100" dirty="0">
                    <a:latin typeface="Times New Roman" panose="02020603050405020304" pitchFamily="18" charset="0"/>
                  </a:rPr>
                  <a:t>Energy</a:t>
                </a:r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200" kern="100" dirty="0">
                    <a:latin typeface="Times New Roman" panose="02020603050405020304" pitchFamily="18" charset="0"/>
                  </a:rPr>
                  <a:t>Plot</a:t>
                </a:r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200" kern="100" dirty="0">
                    <a:latin typeface="Times New Roman" panose="02020603050405020304" pitchFamily="18" charset="0"/>
                  </a:rPr>
                  <a:t>with</a:t>
                </a:r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200" kern="100" dirty="0">
                    <a:latin typeface="Times New Roman" panose="02020603050405020304" pitchFamily="18" charset="0"/>
                  </a:rPr>
                  <a:t>Detected</a:t>
                </a:r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200" kern="100" dirty="0">
                    <a:latin typeface="Times New Roman" panose="02020603050405020304" pitchFamily="18" charset="0"/>
                  </a:rPr>
                  <a:t>Peaks</a:t>
                </a:r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200" kern="100" dirty="0">
                    <a:latin typeface="Times New Roman" panose="02020603050405020304" pitchFamily="18" charset="0"/>
                  </a:rPr>
                  <a:t>50</a:t>
                </a: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FD01728-D452-DA30-65E8-7BA364E24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97" y="2150452"/>
                <a:ext cx="2630229" cy="276999"/>
              </a:xfrm>
              <a:prstGeom prst="rect">
                <a:avLst/>
              </a:prstGeom>
              <a:blipFill>
                <a:blip r:embed="rId10"/>
                <a:stretch>
                  <a:fillRect t="-4348" b="-173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7700BC1-9DDF-AE03-50D0-B2549A0FB69D}"/>
              </a:ext>
            </a:extLst>
          </p:cNvPr>
          <p:cNvCxnSpPr>
            <a:cxnSpLocks/>
          </p:cNvCxnSpPr>
          <p:nvPr/>
        </p:nvCxnSpPr>
        <p:spPr>
          <a:xfrm flipV="1">
            <a:off x="2308339" y="2687666"/>
            <a:ext cx="229632" cy="605118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圆角矩形 32">
            <a:extLst>
              <a:ext uri="{FF2B5EF4-FFF2-40B4-BE49-F238E27FC236}">
                <a16:creationId xmlns:a16="http://schemas.microsoft.com/office/drawing/2014/main" id="{93726822-504B-9FF2-DD57-2D12F5E89C0F}"/>
              </a:ext>
            </a:extLst>
          </p:cNvPr>
          <p:cNvSpPr/>
          <p:nvPr/>
        </p:nvSpPr>
        <p:spPr>
          <a:xfrm>
            <a:off x="201759" y="125891"/>
            <a:ext cx="2768598" cy="2325054"/>
          </a:xfrm>
          <a:prstGeom prst="roundRect">
            <a:avLst>
              <a:gd name="adj" fmla="val 7828"/>
            </a:avLst>
          </a:prstGeom>
          <a:noFill/>
          <a:ln w="19050">
            <a:solidFill>
              <a:srgbClr val="7997C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24"/>
          </a:p>
        </p:txBody>
      </p:sp>
      <p:sp>
        <p:nvSpPr>
          <p:cNvPr id="160" name="矩形 33">
            <a:extLst>
              <a:ext uri="{FF2B5EF4-FFF2-40B4-BE49-F238E27FC236}">
                <a16:creationId xmlns:a16="http://schemas.microsoft.com/office/drawing/2014/main" id="{D66128F4-0974-BBEE-E0D0-9D7AFD322F65}"/>
              </a:ext>
            </a:extLst>
          </p:cNvPr>
          <p:cNvSpPr/>
          <p:nvPr/>
        </p:nvSpPr>
        <p:spPr>
          <a:xfrm>
            <a:off x="115547" y="135248"/>
            <a:ext cx="2937681" cy="274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185" b="1" dirty="0">
                <a:solidFill>
                  <a:srgbClr val="7997CB"/>
                </a:solidFill>
                <a:latin typeface="Times" pitchFamily="2" charset="0"/>
              </a:rPr>
              <a:t>(a)</a:t>
            </a:r>
            <a:r>
              <a:rPr kumimoji="1" lang="zh-CN" altLang="en-US" sz="1185" b="1" dirty="0">
                <a:solidFill>
                  <a:srgbClr val="7997CB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7997CB"/>
                </a:solidFill>
                <a:latin typeface="Times" pitchFamily="2" charset="0"/>
              </a:rPr>
              <a:t>Single</a:t>
            </a:r>
            <a:r>
              <a:rPr kumimoji="1" lang="zh-CN" altLang="en-US" sz="1185" b="1" dirty="0">
                <a:solidFill>
                  <a:srgbClr val="7997CB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7997CB"/>
                </a:solidFill>
                <a:latin typeface="Times" pitchFamily="2" charset="0"/>
              </a:rPr>
              <a:t>Cycle</a:t>
            </a:r>
            <a:r>
              <a:rPr kumimoji="1" lang="zh-CN" altLang="en-US" sz="1185" b="1" dirty="0">
                <a:solidFill>
                  <a:srgbClr val="7997CB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7997CB"/>
                </a:solidFill>
                <a:latin typeface="Times" pitchFamily="2" charset="0"/>
              </a:rPr>
              <a:t>ECG</a:t>
            </a:r>
            <a:r>
              <a:rPr kumimoji="1" lang="zh-CN" altLang="en-US" sz="1185" b="1" dirty="0">
                <a:solidFill>
                  <a:srgbClr val="7997CB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7997CB"/>
                </a:solidFill>
                <a:latin typeface="Times" pitchFamily="2" charset="0"/>
              </a:rPr>
              <a:t>Length</a:t>
            </a:r>
            <a:r>
              <a:rPr kumimoji="1" lang="zh-CN" altLang="en-US" sz="1185" b="1" dirty="0">
                <a:solidFill>
                  <a:srgbClr val="7997CB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7997CB"/>
                </a:solidFill>
                <a:latin typeface="Times" pitchFamily="2" charset="0"/>
              </a:rPr>
              <a:t>Estimation</a:t>
            </a:r>
            <a:endParaRPr kumimoji="1" lang="zh-CN" altLang="en-US" sz="1185" b="1" dirty="0">
              <a:solidFill>
                <a:srgbClr val="7997CB"/>
              </a:solidFill>
              <a:latin typeface="Times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C340056-2135-C36A-F84D-229DD9AED1E8}"/>
              </a:ext>
            </a:extLst>
          </p:cNvPr>
          <p:cNvSpPr txBox="1"/>
          <p:nvPr/>
        </p:nvSpPr>
        <p:spPr>
          <a:xfrm>
            <a:off x="3526059" y="2168775"/>
            <a:ext cx="2820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Spectrogram Slices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(in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time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sequence)</a:t>
            </a: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24C47F7D-D58B-4D37-957A-2275C94D163A}"/>
              </a:ext>
            </a:extLst>
          </p:cNvPr>
          <p:cNvCxnSpPr>
            <a:cxnSpLocks/>
          </p:cNvCxnSpPr>
          <p:nvPr/>
        </p:nvCxnSpPr>
        <p:spPr>
          <a:xfrm flipV="1">
            <a:off x="2308339" y="3450873"/>
            <a:ext cx="229632" cy="605118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DC026D0-5322-7394-44DE-C952FD7867E6}"/>
              </a:ext>
            </a:extLst>
          </p:cNvPr>
          <p:cNvCxnSpPr>
            <a:cxnSpLocks/>
          </p:cNvCxnSpPr>
          <p:nvPr/>
        </p:nvCxnSpPr>
        <p:spPr>
          <a:xfrm flipV="1">
            <a:off x="761903" y="2687666"/>
            <a:ext cx="229632" cy="605118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CEC3078-C218-A423-04F1-F422733E9BA1}"/>
              </a:ext>
            </a:extLst>
          </p:cNvPr>
          <p:cNvCxnSpPr>
            <a:cxnSpLocks/>
          </p:cNvCxnSpPr>
          <p:nvPr/>
        </p:nvCxnSpPr>
        <p:spPr>
          <a:xfrm flipV="1">
            <a:off x="2494801" y="489604"/>
            <a:ext cx="229632" cy="605118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336DFAD8-1D9A-DD41-55D5-C4250F13C38C}"/>
              </a:ext>
            </a:extLst>
          </p:cNvPr>
          <p:cNvCxnSpPr>
            <a:cxnSpLocks/>
          </p:cNvCxnSpPr>
          <p:nvPr/>
        </p:nvCxnSpPr>
        <p:spPr>
          <a:xfrm flipV="1">
            <a:off x="2484641" y="1303611"/>
            <a:ext cx="229632" cy="605118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12085EF2-9024-6E5A-0A36-57642B65D0D0}"/>
              </a:ext>
            </a:extLst>
          </p:cNvPr>
          <p:cNvCxnSpPr>
            <a:cxnSpLocks/>
          </p:cNvCxnSpPr>
          <p:nvPr/>
        </p:nvCxnSpPr>
        <p:spPr>
          <a:xfrm flipV="1">
            <a:off x="836605" y="489604"/>
            <a:ext cx="229632" cy="605118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" name="Picture 193">
            <a:extLst>
              <a:ext uri="{FF2B5EF4-FFF2-40B4-BE49-F238E27FC236}">
                <a16:creationId xmlns:a16="http://schemas.microsoft.com/office/drawing/2014/main" id="{584ED74F-FA93-062C-AE1D-5459B62B1D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5450" y="970086"/>
            <a:ext cx="2160000" cy="1275000"/>
          </a:xfrm>
          <a:prstGeom prst="rect">
            <a:avLst/>
          </a:prstGeom>
        </p:spPr>
      </p:pic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187DC394-E578-FE60-F3F7-661CC479AA12}"/>
              </a:ext>
            </a:extLst>
          </p:cNvPr>
          <p:cNvCxnSpPr>
            <a:cxnSpLocks/>
          </p:cNvCxnSpPr>
          <p:nvPr/>
        </p:nvCxnSpPr>
        <p:spPr>
          <a:xfrm flipV="1">
            <a:off x="3902068" y="407738"/>
            <a:ext cx="723382" cy="641237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AD3B0613-95B5-527D-85FE-38538ECAE910}"/>
              </a:ext>
            </a:extLst>
          </p:cNvPr>
          <p:cNvCxnSpPr>
            <a:cxnSpLocks/>
          </p:cNvCxnSpPr>
          <p:nvPr/>
        </p:nvCxnSpPr>
        <p:spPr>
          <a:xfrm flipV="1">
            <a:off x="5624825" y="427088"/>
            <a:ext cx="723382" cy="641237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41C19023-D59A-2893-6343-3AA3FE1DE5F5}"/>
              </a:ext>
            </a:extLst>
          </p:cNvPr>
          <p:cNvCxnSpPr>
            <a:cxnSpLocks/>
          </p:cNvCxnSpPr>
          <p:nvPr/>
        </p:nvCxnSpPr>
        <p:spPr>
          <a:xfrm flipV="1">
            <a:off x="5598228" y="1272133"/>
            <a:ext cx="723382" cy="641237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圆角矩形 154">
            <a:extLst>
              <a:ext uri="{FF2B5EF4-FFF2-40B4-BE49-F238E27FC236}">
                <a16:creationId xmlns:a16="http://schemas.microsoft.com/office/drawing/2014/main" id="{5049F50B-C1CB-EEE8-A86B-D6F7EB238B09}"/>
              </a:ext>
            </a:extLst>
          </p:cNvPr>
          <p:cNvSpPr/>
          <p:nvPr/>
        </p:nvSpPr>
        <p:spPr>
          <a:xfrm>
            <a:off x="3377693" y="125893"/>
            <a:ext cx="6380930" cy="2325052"/>
          </a:xfrm>
          <a:prstGeom prst="roundRect">
            <a:avLst>
              <a:gd name="adj" fmla="val 7828"/>
            </a:avLst>
          </a:prstGeom>
          <a:noFill/>
          <a:ln w="19050">
            <a:solidFill>
              <a:srgbClr val="D9C17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85"/>
          </a:p>
        </p:txBody>
      </p:sp>
      <p:sp>
        <p:nvSpPr>
          <p:cNvPr id="210" name="矩形 33">
            <a:extLst>
              <a:ext uri="{FF2B5EF4-FFF2-40B4-BE49-F238E27FC236}">
                <a16:creationId xmlns:a16="http://schemas.microsoft.com/office/drawing/2014/main" id="{A8499A1A-6B41-2804-FAAE-9652CA751539}"/>
              </a:ext>
            </a:extLst>
          </p:cNvPr>
          <p:cNvSpPr/>
          <p:nvPr/>
        </p:nvSpPr>
        <p:spPr>
          <a:xfrm>
            <a:off x="3337106" y="137516"/>
            <a:ext cx="2840842" cy="2746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185" b="1" dirty="0">
                <a:solidFill>
                  <a:srgbClr val="D9C17F"/>
                </a:solidFill>
                <a:latin typeface="Times" pitchFamily="2" charset="0"/>
              </a:rPr>
              <a:t>(b)</a:t>
            </a:r>
            <a:r>
              <a:rPr kumimoji="1" lang="zh-CN" altLang="en-US" sz="1185" b="1" dirty="0">
                <a:solidFill>
                  <a:srgbClr val="D9C17F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D9C17F"/>
                </a:solidFill>
                <a:latin typeface="Times" pitchFamily="2" charset="0"/>
              </a:rPr>
              <a:t>Single</a:t>
            </a:r>
            <a:r>
              <a:rPr kumimoji="1" lang="zh-CN" altLang="en-US" sz="1185" b="1" dirty="0">
                <a:solidFill>
                  <a:srgbClr val="D9C17F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D9C17F"/>
                </a:solidFill>
                <a:latin typeface="Times" pitchFamily="2" charset="0"/>
              </a:rPr>
              <a:t>Cycle</a:t>
            </a:r>
            <a:r>
              <a:rPr kumimoji="1" lang="zh-CN" altLang="en-US" sz="1185" b="1" dirty="0">
                <a:solidFill>
                  <a:srgbClr val="D9C17F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D9C17F"/>
                </a:solidFill>
                <a:latin typeface="Times" pitchFamily="2" charset="0"/>
              </a:rPr>
              <a:t>ECG</a:t>
            </a:r>
            <a:r>
              <a:rPr kumimoji="1" lang="zh-CN" altLang="en-US" sz="1185" b="1" dirty="0">
                <a:solidFill>
                  <a:srgbClr val="D9C17F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D9C17F"/>
                </a:solidFill>
                <a:latin typeface="Times" pitchFamily="2" charset="0"/>
              </a:rPr>
              <a:t>Generator</a:t>
            </a:r>
            <a:r>
              <a:rPr kumimoji="1" lang="zh-CN" altLang="en-US" sz="1185" b="1" dirty="0">
                <a:solidFill>
                  <a:srgbClr val="D9C17F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D9C17F"/>
                </a:solidFill>
                <a:latin typeface="Times" pitchFamily="2" charset="0"/>
              </a:rPr>
              <a:t>(SCEG)</a:t>
            </a:r>
            <a:endParaRPr kumimoji="1" lang="zh-CN" altLang="en-US" sz="1185" b="1" dirty="0">
              <a:solidFill>
                <a:srgbClr val="D9C17F"/>
              </a:solidFill>
              <a:latin typeface="Times" pitchFamily="2" charset="0"/>
            </a:endParaRPr>
          </a:p>
        </p:txBody>
      </p:sp>
      <p:cxnSp>
        <p:nvCxnSpPr>
          <p:cNvPr id="212" name="直线箭头连接符 256">
            <a:extLst>
              <a:ext uri="{FF2B5EF4-FFF2-40B4-BE49-F238E27FC236}">
                <a16:creationId xmlns:a16="http://schemas.microsoft.com/office/drawing/2014/main" id="{8F7BDF4F-058F-BB8E-28ED-8998F5115D1B}"/>
              </a:ext>
            </a:extLst>
          </p:cNvPr>
          <p:cNvCxnSpPr>
            <a:cxnSpLocks/>
          </p:cNvCxnSpPr>
          <p:nvPr/>
        </p:nvCxnSpPr>
        <p:spPr>
          <a:xfrm>
            <a:off x="6483977" y="1338657"/>
            <a:ext cx="972000" cy="0"/>
          </a:xfrm>
          <a:prstGeom prst="straightConnector1">
            <a:avLst/>
          </a:prstGeom>
          <a:ln w="38100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2" name="TextBox 431">
            <a:extLst>
              <a:ext uri="{FF2B5EF4-FFF2-40B4-BE49-F238E27FC236}">
                <a16:creationId xmlns:a16="http://schemas.microsoft.com/office/drawing/2014/main" id="{2C2B8C6B-4618-C9A3-CEC2-4F88893AF3AD}"/>
              </a:ext>
            </a:extLst>
          </p:cNvPr>
          <p:cNvSpPr txBox="1"/>
          <p:nvPr/>
        </p:nvSpPr>
        <p:spPr>
          <a:xfrm>
            <a:off x="7188186" y="1667908"/>
            <a:ext cx="1947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Estimated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single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cycle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ECG</a:t>
            </a:r>
          </a:p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(in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time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sequence)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1C7F0-F7B6-B658-0D3B-37E9DB4685B8}"/>
              </a:ext>
            </a:extLst>
          </p:cNvPr>
          <p:cNvSpPr txBox="1"/>
          <p:nvPr/>
        </p:nvSpPr>
        <p:spPr>
          <a:xfrm>
            <a:off x="8801481" y="660922"/>
            <a:ext cx="73531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Resample</a:t>
            </a:r>
          </a:p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&amp;</a:t>
            </a:r>
          </a:p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Reshape</a:t>
            </a:r>
            <a:endParaRPr lang="en-CN" sz="12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E92056A-891B-8FCD-0E0C-19339F9201D5}"/>
              </a:ext>
            </a:extLst>
          </p:cNvPr>
          <p:cNvGrpSpPr/>
          <p:nvPr/>
        </p:nvGrpSpPr>
        <p:grpSpPr>
          <a:xfrm>
            <a:off x="7471645" y="642222"/>
            <a:ext cx="1337059" cy="948049"/>
            <a:chOff x="769799" y="5191771"/>
            <a:chExt cx="1337059" cy="948049"/>
          </a:xfrm>
        </p:grpSpPr>
        <p:grpSp>
          <p:nvGrpSpPr>
            <p:cNvPr id="433" name="Group 432">
              <a:extLst>
                <a:ext uri="{FF2B5EF4-FFF2-40B4-BE49-F238E27FC236}">
                  <a16:creationId xmlns:a16="http://schemas.microsoft.com/office/drawing/2014/main" id="{AAE01910-C551-705A-5F49-CF9D12B725C8}"/>
                </a:ext>
              </a:extLst>
            </p:cNvPr>
            <p:cNvGrpSpPr/>
            <p:nvPr/>
          </p:nvGrpSpPr>
          <p:grpSpPr>
            <a:xfrm>
              <a:off x="769799" y="5191771"/>
              <a:ext cx="1337059" cy="948049"/>
              <a:chOff x="234948" y="5146741"/>
              <a:chExt cx="1280693" cy="569634"/>
            </a:xfrm>
          </p:grpSpPr>
          <p:pic>
            <p:nvPicPr>
              <p:cNvPr id="220" name="Picture 219">
                <a:extLst>
                  <a:ext uri="{FF2B5EF4-FFF2-40B4-BE49-F238E27FC236}">
                    <a16:creationId xmlns:a16="http://schemas.microsoft.com/office/drawing/2014/main" id="{4396914E-6FBE-1FB5-2076-8A874BA30328}"/>
                  </a:ext>
                </a:extLst>
              </p:cNvPr>
              <p:cNvPicPr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79641" y="5146741"/>
                <a:ext cx="936000" cy="360000"/>
              </a:xfrm>
              <a:prstGeom prst="rect">
                <a:avLst/>
              </a:prstGeom>
            </p:spPr>
          </p:pic>
          <p:pic>
            <p:nvPicPr>
              <p:cNvPr id="222" name="Picture 221">
                <a:extLst>
                  <a:ext uri="{FF2B5EF4-FFF2-40B4-BE49-F238E27FC236}">
                    <a16:creationId xmlns:a16="http://schemas.microsoft.com/office/drawing/2014/main" id="{E099DAF1-0448-E630-46C1-D415DA2ABA58}"/>
                  </a:ext>
                </a:extLst>
              </p:cNvPr>
              <p:cNvPicPr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88395" y="5286277"/>
                <a:ext cx="936000" cy="360000"/>
              </a:xfrm>
              <a:prstGeom prst="rect">
                <a:avLst/>
              </a:prstGeom>
            </p:spPr>
          </p:pic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AF75EA4F-123C-C501-B1FB-4AF8261C9E17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34948" y="5356375"/>
                <a:ext cx="936000" cy="360000"/>
              </a:xfrm>
              <a:prstGeom prst="rect">
                <a:avLst/>
              </a:prstGeom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34E7EB0-C846-8566-3930-73014A3DFA43}"/>
                </a:ext>
              </a:extLst>
            </p:cNvPr>
            <p:cNvSpPr txBox="1"/>
            <p:nvPr/>
          </p:nvSpPr>
          <p:spPr>
            <a:xfrm rot="18226598">
              <a:off x="1522344" y="5641359"/>
              <a:ext cx="352602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600" dirty="0"/>
                <a:t>…</a:t>
              </a:r>
              <a:endParaRPr lang="en-CN" sz="1600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BBE6C87-7D04-4E1F-6967-65B18AFD705D}"/>
              </a:ext>
            </a:extLst>
          </p:cNvPr>
          <p:cNvSpPr txBox="1"/>
          <p:nvPr/>
        </p:nvSpPr>
        <p:spPr>
          <a:xfrm>
            <a:off x="6406503" y="876936"/>
            <a:ext cx="1153571" cy="36933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Morphological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endParaRPr lang="en-US" altLang="zh-CN" sz="1200" kern="100" dirty="0">
              <a:latin typeface="Times New Roman" panose="02020603050405020304" pitchFamily="18" charset="0"/>
            </a:endParaRPr>
          </a:p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Feature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Extraction</a:t>
            </a:r>
            <a:endParaRPr lang="en-CN" sz="1200" dirty="0"/>
          </a:p>
        </p:txBody>
      </p:sp>
      <p:cxnSp>
        <p:nvCxnSpPr>
          <p:cNvPr id="19" name="直线箭头连接符 256">
            <a:extLst>
              <a:ext uri="{FF2B5EF4-FFF2-40B4-BE49-F238E27FC236}">
                <a16:creationId xmlns:a16="http://schemas.microsoft.com/office/drawing/2014/main" id="{891B3F46-AD3C-2C60-6F73-FEF3937B494D}"/>
              </a:ext>
            </a:extLst>
          </p:cNvPr>
          <p:cNvCxnSpPr>
            <a:cxnSpLocks/>
          </p:cNvCxnSpPr>
          <p:nvPr/>
        </p:nvCxnSpPr>
        <p:spPr>
          <a:xfrm flipV="1">
            <a:off x="1619556" y="2450945"/>
            <a:ext cx="1671" cy="371704"/>
          </a:xfrm>
          <a:prstGeom prst="straightConnector1">
            <a:avLst/>
          </a:prstGeom>
          <a:ln w="38100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E323C5C-3638-106F-6C4E-AEEAD2CBBF14}"/>
              </a:ext>
            </a:extLst>
          </p:cNvPr>
          <p:cNvGrpSpPr/>
          <p:nvPr/>
        </p:nvGrpSpPr>
        <p:grpSpPr>
          <a:xfrm>
            <a:off x="3337106" y="2973580"/>
            <a:ext cx="6380193" cy="1632362"/>
            <a:chOff x="3398250" y="4554287"/>
            <a:chExt cx="6380193" cy="1632362"/>
          </a:xfrm>
        </p:grpSpPr>
        <p:sp>
          <p:nvSpPr>
            <p:cNvPr id="436" name="圆角矩形 140">
              <a:extLst>
                <a:ext uri="{FF2B5EF4-FFF2-40B4-BE49-F238E27FC236}">
                  <a16:creationId xmlns:a16="http://schemas.microsoft.com/office/drawing/2014/main" id="{46CDE936-C018-A3FB-A892-756859293CE6}"/>
                </a:ext>
              </a:extLst>
            </p:cNvPr>
            <p:cNvSpPr/>
            <p:nvPr/>
          </p:nvSpPr>
          <p:spPr>
            <a:xfrm>
              <a:off x="3398250" y="4554287"/>
              <a:ext cx="6380193" cy="1632362"/>
            </a:xfrm>
            <a:prstGeom prst="roundRect">
              <a:avLst>
                <a:gd name="adj" fmla="val 7828"/>
              </a:avLst>
            </a:prstGeom>
            <a:noFill/>
            <a:ln w="19050">
              <a:solidFill>
                <a:srgbClr val="385723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85"/>
            </a:p>
          </p:txBody>
        </p:sp>
        <p:sp>
          <p:nvSpPr>
            <p:cNvPr id="437" name="矩形 33">
              <a:extLst>
                <a:ext uri="{FF2B5EF4-FFF2-40B4-BE49-F238E27FC236}">
                  <a16:creationId xmlns:a16="http://schemas.microsoft.com/office/drawing/2014/main" id="{BD52BA88-81DA-C558-C18C-AE2D1FA4C0DF}"/>
                </a:ext>
              </a:extLst>
            </p:cNvPr>
            <p:cNvSpPr/>
            <p:nvPr/>
          </p:nvSpPr>
          <p:spPr>
            <a:xfrm>
              <a:off x="3400685" y="4571571"/>
              <a:ext cx="2536272" cy="27469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185" b="1" dirty="0">
                  <a:solidFill>
                    <a:srgbClr val="385723"/>
                  </a:solidFill>
                  <a:latin typeface="Times" pitchFamily="2" charset="0"/>
                </a:rPr>
                <a:t>(c)</a:t>
              </a:r>
              <a:r>
                <a:rPr kumimoji="1" lang="zh-CN" altLang="en-US" sz="1185" b="1" dirty="0">
                  <a:solidFill>
                    <a:srgbClr val="385723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385723"/>
                  </a:solidFill>
                  <a:latin typeface="Times" pitchFamily="2" charset="0"/>
                </a:rPr>
                <a:t>Long-Term</a:t>
              </a:r>
              <a:r>
                <a:rPr kumimoji="1" lang="zh-CN" altLang="en-US" sz="1185" b="1" dirty="0">
                  <a:solidFill>
                    <a:srgbClr val="385723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385723"/>
                  </a:solidFill>
                  <a:latin typeface="Times" pitchFamily="2" charset="0"/>
                </a:rPr>
                <a:t>ECG</a:t>
              </a:r>
              <a:r>
                <a:rPr kumimoji="1" lang="zh-CN" altLang="en-US" sz="1185" b="1" dirty="0">
                  <a:solidFill>
                    <a:srgbClr val="385723"/>
                  </a:solidFill>
                  <a:latin typeface="Times" pitchFamily="2" charset="0"/>
                </a:rPr>
                <a:t> </a:t>
              </a:r>
              <a:r>
                <a:rPr kumimoji="1" lang="en-US" altLang="zh-CN" sz="1185" b="1" dirty="0">
                  <a:solidFill>
                    <a:srgbClr val="385723"/>
                  </a:solidFill>
                  <a:latin typeface="Times" pitchFamily="2" charset="0"/>
                </a:rPr>
                <a:t>Reconstruction</a:t>
              </a:r>
              <a:endParaRPr kumimoji="1" lang="zh-CN" altLang="en-US" sz="1185" b="1" dirty="0">
                <a:solidFill>
                  <a:srgbClr val="385723"/>
                </a:solidFill>
                <a:latin typeface="Times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7" name="文本框 655">
                  <a:extLst>
                    <a:ext uri="{FF2B5EF4-FFF2-40B4-BE49-F238E27FC236}">
                      <a16:creationId xmlns:a16="http://schemas.microsoft.com/office/drawing/2014/main" id="{67F277BB-FE39-182C-12F0-65E9D58D5FF0}"/>
                    </a:ext>
                  </a:extLst>
                </p:cNvPr>
                <p:cNvSpPr txBox="1"/>
                <p:nvPr/>
              </p:nvSpPr>
              <p:spPr>
                <a:xfrm>
                  <a:off x="8662199" y="5237224"/>
                  <a:ext cx="855327" cy="30777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40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e>
                          <m:sub>
                            <m:r>
                              <a:rPr kumimoji="1" lang="en-US" altLang="zh-CN" sz="1400" b="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𝑅𝑀𝑆𝐸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100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47" name="文本框 655">
                  <a:extLst>
                    <a:ext uri="{FF2B5EF4-FFF2-40B4-BE49-F238E27FC236}">
                      <a16:creationId xmlns:a16="http://schemas.microsoft.com/office/drawing/2014/main" id="{67F277BB-FE39-182C-12F0-65E9D58D5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2199" y="5237224"/>
                  <a:ext cx="855327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文本框 350">
              <a:extLst>
                <a:ext uri="{FF2B5EF4-FFF2-40B4-BE49-F238E27FC236}">
                  <a16:creationId xmlns:a16="http://schemas.microsoft.com/office/drawing/2014/main" id="{EA6504E5-886B-0A08-EBF3-17CD9542D55A}"/>
                </a:ext>
              </a:extLst>
            </p:cNvPr>
            <p:cNvSpPr txBox="1"/>
            <p:nvPr/>
          </p:nvSpPr>
          <p:spPr>
            <a:xfrm>
              <a:off x="8650873" y="4669783"/>
              <a:ext cx="856377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Optimizer</a:t>
              </a:r>
              <a:endParaRPr kumimoji="1" lang="zh-CN" altLang="en-US" sz="105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线箭头连接符 356">
              <a:extLst>
                <a:ext uri="{FF2B5EF4-FFF2-40B4-BE49-F238E27FC236}">
                  <a16:creationId xmlns:a16="http://schemas.microsoft.com/office/drawing/2014/main" id="{26716CEF-0635-CF85-1594-7D3203E471A1}"/>
                </a:ext>
              </a:extLst>
            </p:cNvPr>
            <p:cNvCxnSpPr>
              <a:cxnSpLocks/>
              <a:endCxn id="447" idx="1"/>
            </p:cNvCxnSpPr>
            <p:nvPr/>
          </p:nvCxnSpPr>
          <p:spPr>
            <a:xfrm flipV="1">
              <a:off x="8298029" y="5391113"/>
              <a:ext cx="364170" cy="2331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线箭头连接符 356">
              <a:extLst>
                <a:ext uri="{FF2B5EF4-FFF2-40B4-BE49-F238E27FC236}">
                  <a16:creationId xmlns:a16="http://schemas.microsoft.com/office/drawing/2014/main" id="{BD08C0CE-31DA-A006-E013-CC826C5018C4}"/>
                </a:ext>
              </a:extLst>
            </p:cNvPr>
            <p:cNvCxnSpPr>
              <a:cxnSpLocks/>
            </p:cNvCxnSpPr>
            <p:nvPr/>
          </p:nvCxnSpPr>
          <p:spPr>
            <a:xfrm>
              <a:off x="9089862" y="4960599"/>
              <a:ext cx="1438" cy="269992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headEnd type="triangle"/>
              <a:tailEnd type="triangle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B6B1553-C51E-C6EF-708B-4C8186EC3D4D}"/>
                </a:ext>
              </a:extLst>
            </p:cNvPr>
            <p:cNvSpPr/>
            <p:nvPr/>
          </p:nvSpPr>
          <p:spPr>
            <a:xfrm>
              <a:off x="5745309" y="5184491"/>
              <a:ext cx="873417" cy="431153"/>
            </a:xfrm>
            <a:prstGeom prst="rect">
              <a:avLst/>
            </a:prstGeom>
            <a:solidFill>
              <a:srgbClr val="A9D18E">
                <a:alpha val="60337"/>
              </a:srgbClr>
            </a:solidFill>
            <a:ln w="15875"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</a:t>
              </a:r>
            </a:p>
            <a:p>
              <a:pPr algn="ctr"/>
              <a:r>
                <a:rPr lang="en-CN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Fusion</a:t>
              </a:r>
              <a:endParaRPr lang="en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CB3B4D6-A378-A625-F72F-B0D5E87193D8}"/>
                </a:ext>
              </a:extLst>
            </p:cNvPr>
            <p:cNvSpPr txBox="1"/>
            <p:nvPr/>
          </p:nvSpPr>
          <p:spPr>
            <a:xfrm>
              <a:off x="6211291" y="4671189"/>
              <a:ext cx="1065806" cy="369332"/>
            </a:xfrm>
            <a:prstGeom prst="rect">
              <a:avLst/>
            </a:prstGeom>
            <a:noFill/>
            <a:effectLst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200" kern="100" dirty="0">
                  <a:latin typeface="Times New Roman" panose="02020603050405020304" pitchFamily="18" charset="0"/>
                </a:rPr>
                <a:t>Morphological</a:t>
              </a:r>
            </a:p>
            <a:p>
              <a:pPr algn="ctr"/>
              <a:r>
                <a:rPr lang="en-US" altLang="zh-CN" sz="1200" kern="100" dirty="0">
                  <a:latin typeface="Times New Roman" panose="02020603050405020304" pitchFamily="18" charset="0"/>
                </a:rPr>
                <a:t>Feature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29DD767-1185-DF37-D145-DD50ACEB2E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90"/>
            <a:stretch/>
          </p:blipFill>
          <p:spPr>
            <a:xfrm>
              <a:off x="6896938" y="4871717"/>
              <a:ext cx="1401091" cy="78123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4900C0-5033-4D7E-9417-C3607D59D798}"/>
                </a:ext>
              </a:extLst>
            </p:cNvPr>
            <p:cNvSpPr txBox="1"/>
            <p:nvPr/>
          </p:nvSpPr>
          <p:spPr>
            <a:xfrm>
              <a:off x="6605691" y="5739998"/>
              <a:ext cx="1949881" cy="184666"/>
            </a:xfrm>
            <a:prstGeom prst="rect">
              <a:avLst/>
            </a:prstGeom>
            <a:noFill/>
            <a:effectLst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200" b="1" kern="1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Outputs:</a:t>
              </a:r>
              <a:r>
                <a:rPr lang="zh-CN" altLang="en-US" sz="1200" b="1" kern="1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200" kern="100" dirty="0">
                  <a:latin typeface="Times New Roman" panose="02020603050405020304" pitchFamily="18" charset="0"/>
                </a:rPr>
                <a:t>Reconstructed</a:t>
              </a:r>
              <a:r>
                <a:rPr lang="zh-CN" altLang="en-US" sz="12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200" kern="100" dirty="0">
                  <a:latin typeface="Times New Roman" panose="02020603050405020304" pitchFamily="18" charset="0"/>
                </a:rPr>
                <a:t>ECG</a:t>
              </a:r>
              <a:endParaRPr lang="en-CN" sz="1200" dirty="0"/>
            </a:p>
          </p:txBody>
        </p:sp>
        <p:cxnSp>
          <p:nvCxnSpPr>
            <p:cNvPr id="39" name="直线箭头连接符 256">
              <a:extLst>
                <a:ext uri="{FF2B5EF4-FFF2-40B4-BE49-F238E27FC236}">
                  <a16:creationId xmlns:a16="http://schemas.microsoft.com/office/drawing/2014/main" id="{1B54818E-974A-D476-A8C2-FDCF63015950}"/>
                </a:ext>
              </a:extLst>
            </p:cNvPr>
            <p:cNvCxnSpPr>
              <a:cxnSpLocks/>
            </p:cNvCxnSpPr>
            <p:nvPr/>
          </p:nvCxnSpPr>
          <p:spPr>
            <a:xfrm>
              <a:off x="6630176" y="5398464"/>
              <a:ext cx="255311" cy="2932"/>
            </a:xfrm>
            <a:prstGeom prst="straightConnector1">
              <a:avLst/>
            </a:prstGeom>
            <a:ln w="38100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E693EA6-8AA5-3C24-864D-C4ECB9BFA11D}"/>
                </a:ext>
              </a:extLst>
            </p:cNvPr>
            <p:cNvSpPr txBox="1"/>
            <p:nvPr/>
          </p:nvSpPr>
          <p:spPr>
            <a:xfrm>
              <a:off x="4742616" y="4980851"/>
              <a:ext cx="856377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200" kern="100" dirty="0">
                  <a:latin typeface="Times New Roman" panose="02020603050405020304" pitchFamily="18" charset="0"/>
                </a:rPr>
                <a:t>Temporal</a:t>
              </a:r>
              <a:r>
                <a:rPr lang="zh-CN" altLang="en-US" sz="1200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200" kern="100" dirty="0">
                  <a:latin typeface="Times New Roman" panose="02020603050405020304" pitchFamily="18" charset="0"/>
                </a:rPr>
                <a:t>Feature</a:t>
              </a:r>
            </a:p>
          </p:txBody>
        </p:sp>
        <p:cxnSp>
          <p:nvCxnSpPr>
            <p:cNvPr id="25" name="直线箭头连接符 256">
              <a:extLst>
                <a:ext uri="{FF2B5EF4-FFF2-40B4-BE49-F238E27FC236}">
                  <a16:creationId xmlns:a16="http://schemas.microsoft.com/office/drawing/2014/main" id="{31CAC0C3-F202-CFA2-8446-04C9410FFE44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4646008" y="5400068"/>
              <a:ext cx="1099301" cy="5646"/>
            </a:xfrm>
            <a:prstGeom prst="straightConnector1">
              <a:avLst/>
            </a:prstGeom>
            <a:ln w="38100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Trapezoid 1">
              <a:extLst>
                <a:ext uri="{FF2B5EF4-FFF2-40B4-BE49-F238E27FC236}">
                  <a16:creationId xmlns:a16="http://schemas.microsoft.com/office/drawing/2014/main" id="{77FA2924-0EC3-241B-9E54-C6615711380C}"/>
                </a:ext>
              </a:extLst>
            </p:cNvPr>
            <p:cNvSpPr/>
            <p:nvPr/>
          </p:nvSpPr>
          <p:spPr>
            <a:xfrm rot="5400000">
              <a:off x="3605728" y="5114241"/>
              <a:ext cx="634788" cy="553182"/>
            </a:xfrm>
            <a:prstGeom prst="trapezoid">
              <a:avLst/>
            </a:prstGeom>
            <a:solidFill>
              <a:srgbClr val="CCE3BC"/>
            </a:solidFill>
            <a:ln w="15875"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8743E6-D464-0267-CF50-DE2FC6EDEAD8}"/>
                </a:ext>
              </a:extLst>
            </p:cNvPr>
            <p:cNvSpPr txBox="1"/>
            <p:nvPr/>
          </p:nvSpPr>
          <p:spPr>
            <a:xfrm>
              <a:off x="3603185" y="5296475"/>
              <a:ext cx="618169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CN" altLang="zh-CN" sz="1200" kern="100" dirty="0">
                  <a:latin typeface="Times New Roman" panose="02020603050405020304" pitchFamily="18" charset="0"/>
                </a:rPr>
                <a:t>Encoder</a:t>
              </a:r>
              <a:endParaRPr lang="en-US" altLang="zh-CN" sz="1200" kern="100" dirty="0">
                <a:latin typeface="Times New Roman" panose="02020603050405020304" pitchFamily="18" charset="0"/>
              </a:endParaRPr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AF402D07-DC70-83D2-DE99-F26109C66D72}"/>
                </a:ext>
              </a:extLst>
            </p:cNvPr>
            <p:cNvSpPr/>
            <p:nvPr/>
          </p:nvSpPr>
          <p:spPr>
            <a:xfrm rot="16200000">
              <a:off x="4162450" y="5114241"/>
              <a:ext cx="634788" cy="553182"/>
            </a:xfrm>
            <a:prstGeom prst="trapezoid">
              <a:avLst/>
            </a:prstGeom>
            <a:solidFill>
              <a:srgbClr val="CCE3BC"/>
            </a:solidFill>
            <a:ln w="15875"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C228CA3-6E2A-6B75-F1FB-7E4D6197F85C}"/>
                </a:ext>
              </a:extLst>
            </p:cNvPr>
            <p:cNvSpPr txBox="1"/>
            <p:nvPr/>
          </p:nvSpPr>
          <p:spPr>
            <a:xfrm>
              <a:off x="4163099" y="5298499"/>
              <a:ext cx="618169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200" kern="100" dirty="0">
                  <a:latin typeface="Times New Roman" panose="02020603050405020304" pitchFamily="18" charset="0"/>
                </a:rPr>
                <a:t>De</a:t>
              </a:r>
              <a:r>
                <a:rPr lang="en-CN" altLang="zh-CN" sz="1200" kern="100" dirty="0">
                  <a:latin typeface="Times New Roman" panose="02020603050405020304" pitchFamily="18" charset="0"/>
                </a:rPr>
                <a:t>coder</a:t>
              </a:r>
              <a:endParaRPr lang="en-US" altLang="zh-CN" sz="1200" kern="100" dirty="0"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4FBD4C99-55DD-1407-8D60-A733114B1A5E}"/>
              </a:ext>
            </a:extLst>
          </p:cNvPr>
          <p:cNvCxnSpPr>
            <a:cxnSpLocks/>
            <a:stCxn id="31" idx="2"/>
            <a:endCxn id="41" idx="0"/>
          </p:cNvCxnSpPr>
          <p:nvPr/>
        </p:nvCxnSpPr>
        <p:spPr>
          <a:xfrm flipH="1">
            <a:off x="6120874" y="1283365"/>
            <a:ext cx="2381948" cy="2320419"/>
          </a:xfrm>
          <a:prstGeom prst="bentConnector4">
            <a:avLst>
              <a:gd name="adj1" fmla="val -43813"/>
              <a:gd name="adj2" fmla="val 60601"/>
            </a:avLst>
          </a:prstGeom>
          <a:ln w="38100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线箭头连接符 256">
            <a:extLst>
              <a:ext uri="{FF2B5EF4-FFF2-40B4-BE49-F238E27FC236}">
                <a16:creationId xmlns:a16="http://schemas.microsoft.com/office/drawing/2014/main" id="{E79BAEC2-7718-C942-5D94-A88CF1CC73F9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575548" y="3808101"/>
            <a:ext cx="966493" cy="0"/>
          </a:xfrm>
          <a:prstGeom prst="straightConnector1">
            <a:avLst/>
          </a:prstGeom>
          <a:ln w="38100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868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58989</TotalTime>
  <Words>85</Words>
  <Application>Microsoft Macintosh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Times</vt:lpstr>
      <vt:lpstr>Arial</vt:lpstr>
      <vt:lpstr>Calibri</vt:lpstr>
      <vt:lpstr>Calibri Light</vt:lpstr>
      <vt:lpstr>Cambria Math</vt:lpstr>
      <vt:lpstr>Times New Roman</vt:lpstr>
      <vt:lpstr>Office 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</dc:creator>
  <cp:lastModifiedBy>Zhang, Yuanyuan [sgyzh127]</cp:lastModifiedBy>
  <cp:revision>258</cp:revision>
  <cp:lastPrinted>2021-09-11T15:09:31Z</cp:lastPrinted>
  <dcterms:created xsi:type="dcterms:W3CDTF">2021-09-09T10:17:34Z</dcterms:created>
  <dcterms:modified xsi:type="dcterms:W3CDTF">2025-05-08T13:50:02Z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