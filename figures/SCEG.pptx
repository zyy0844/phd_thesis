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sldIdLst>
    <p:sldId id="553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234"/>
    <a:srgbClr val="A6A6A6"/>
    <a:srgbClr val="BF9001"/>
    <a:srgbClr val="767171"/>
    <a:srgbClr val="385723"/>
    <a:srgbClr val="A9D18E"/>
    <a:srgbClr val="FFD966"/>
    <a:srgbClr val="F7E19E"/>
    <a:srgbClr val="9E480D"/>
    <a:srgbClr val="843C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60" autoAdjust="0"/>
    <p:restoredTop sz="97030"/>
  </p:normalViewPr>
  <p:slideViewPr>
    <p:cSldViewPr snapToGrid="0">
      <p:cViewPr varScale="1">
        <p:scale>
          <a:sx n="126" d="100"/>
          <a:sy n="126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82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22929-8D04-F84D-8435-1F93213EE224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71A7-465B-7947-83B1-CB7238E27686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B366-E249-8545-982D-E96378BBAC2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AC20-6770-D34F-9308-718C0AE9D56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035-B419-9245-86B4-CB668996A490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C118-A5A8-D94E-86CF-BA313BA47A0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46C2-2F8B-5D4C-AB7E-A009B6015ABB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88A3-47F4-C64A-965B-8F6A2766F8D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F128-6D76-D64D-9F16-F819398E651E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EF3B-EB08-DE4D-8F1F-D62D9AC84E5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矩形 101">
            <a:extLst>
              <a:ext uri="{FF2B5EF4-FFF2-40B4-BE49-F238E27FC236}">
                <a16:creationId xmlns:a16="http://schemas.microsoft.com/office/drawing/2014/main" id="{8734CC5D-AFDD-A062-B0F1-584E4BD5A524}"/>
              </a:ext>
            </a:extLst>
          </p:cNvPr>
          <p:cNvSpPr/>
          <p:nvPr/>
        </p:nvSpPr>
        <p:spPr>
          <a:xfrm>
            <a:off x="2816945" y="3020415"/>
            <a:ext cx="3361033" cy="1704135"/>
          </a:xfrm>
          <a:prstGeom prst="rect">
            <a:avLst/>
          </a:prstGeom>
          <a:solidFill>
            <a:srgbClr val="D9D9D9">
              <a:alpha val="5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4" name="矩形 101">
            <a:extLst>
              <a:ext uri="{FF2B5EF4-FFF2-40B4-BE49-F238E27FC236}">
                <a16:creationId xmlns:a16="http://schemas.microsoft.com/office/drawing/2014/main" id="{6EE65010-35C6-3BB1-7F72-5B88556C35AE}"/>
              </a:ext>
            </a:extLst>
          </p:cNvPr>
          <p:cNvSpPr/>
          <p:nvPr/>
        </p:nvSpPr>
        <p:spPr>
          <a:xfrm>
            <a:off x="4814711" y="1224178"/>
            <a:ext cx="2699833" cy="1305186"/>
          </a:xfrm>
          <a:prstGeom prst="rect">
            <a:avLst/>
          </a:prstGeom>
          <a:solidFill>
            <a:srgbClr val="D9D9D9">
              <a:alpha val="5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96" name="Picture 195">
            <a:extLst>
              <a:ext uri="{FF2B5EF4-FFF2-40B4-BE49-F238E27FC236}">
                <a16:creationId xmlns:a16="http://schemas.microsoft.com/office/drawing/2014/main" id="{667C0E5E-3912-796B-1B1B-60BA9474A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0170" y="1168101"/>
            <a:ext cx="1199515" cy="715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7D3CF-5C33-1DA7-6313-7121B6CB6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356" y="1399434"/>
            <a:ext cx="2503583" cy="1025987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E4CA059D-28E3-CDC9-977D-FD16E58ACB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319" y="1405276"/>
            <a:ext cx="1194587" cy="7157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C340056-2135-C36A-F84D-229DD9AED1E8}"/>
                  </a:ext>
                </a:extLst>
              </p:cNvPr>
              <p:cNvSpPr txBox="1"/>
              <p:nvPr/>
            </p:nvSpPr>
            <p:spPr>
              <a:xfrm>
                <a:off x="2717289" y="2352880"/>
                <a:ext cx="14899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kern="100" dirty="0">
                    <a:latin typeface="Times New Roman" panose="02020603050405020304" pitchFamily="18" charset="0"/>
                  </a:rPr>
                  <a:t>Spectrogram Slices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12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2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CN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1200" kern="100" dirty="0">
                    <a:latin typeface="Times New Roman" panose="02020603050405020304" pitchFamily="18" charset="0"/>
                  </a:rPr>
                  <a:t>T</a:t>
                </a:r>
              </a:p>
            </p:txBody>
          </p:sp>
        </mc:Choice>
        <mc:Fallback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C340056-2135-C36A-F84D-229DD9AED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289" y="2352880"/>
                <a:ext cx="1489905" cy="461665"/>
              </a:xfrm>
              <a:prstGeom prst="rect">
                <a:avLst/>
              </a:prstGeom>
              <a:blipFill>
                <a:blip r:embed="rId6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4" name="Picture 193">
            <a:extLst>
              <a:ext uri="{FF2B5EF4-FFF2-40B4-BE49-F238E27FC236}">
                <a16:creationId xmlns:a16="http://schemas.microsoft.com/office/drawing/2014/main" id="{584ED74F-FA93-062C-AE1D-5459B62B1D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9621" y="1589892"/>
            <a:ext cx="1472850" cy="857481"/>
          </a:xfrm>
          <a:prstGeom prst="rect">
            <a:avLst/>
          </a:prstGeom>
        </p:spPr>
      </p:pic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87DC394-E578-FE60-F3F7-661CC479AA12}"/>
              </a:ext>
            </a:extLst>
          </p:cNvPr>
          <p:cNvCxnSpPr>
            <a:cxnSpLocks/>
          </p:cNvCxnSpPr>
          <p:nvPr/>
        </p:nvCxnSpPr>
        <p:spPr>
          <a:xfrm flipV="1">
            <a:off x="2833078" y="1173437"/>
            <a:ext cx="582987" cy="461088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56">
            <a:extLst>
              <a:ext uri="{FF2B5EF4-FFF2-40B4-BE49-F238E27FC236}">
                <a16:creationId xmlns:a16="http://schemas.microsoft.com/office/drawing/2014/main" id="{8F7BDF4F-058F-BB8E-28ED-8998F5115D1B}"/>
              </a:ext>
            </a:extLst>
          </p:cNvPr>
          <p:cNvCxnSpPr>
            <a:cxnSpLocks/>
          </p:cNvCxnSpPr>
          <p:nvPr/>
        </p:nvCxnSpPr>
        <p:spPr>
          <a:xfrm>
            <a:off x="4499680" y="1914556"/>
            <a:ext cx="315031" cy="0"/>
          </a:xfrm>
          <a:prstGeom prst="straightConnector1">
            <a:avLst/>
          </a:prstGeom>
          <a:ln w="38100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C53FEFFA-E72E-E28B-8D35-73871654CDE2}"/>
              </a:ext>
            </a:extLst>
          </p:cNvPr>
          <p:cNvSpPr txBox="1"/>
          <p:nvPr/>
        </p:nvSpPr>
        <p:spPr>
          <a:xfrm>
            <a:off x="6838447" y="2252403"/>
            <a:ext cx="684102" cy="276999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900" kern="100" dirty="0">
                <a:latin typeface="Times New Roman" panose="02020603050405020304" pitchFamily="18" charset="0"/>
              </a:rPr>
              <a:t>Deformable</a:t>
            </a:r>
            <a:r>
              <a:rPr lang="zh-CN" altLang="en-US" sz="900" kern="100" dirty="0">
                <a:latin typeface="Times New Roman" panose="02020603050405020304" pitchFamily="18" charset="0"/>
              </a:rPr>
              <a:t> </a:t>
            </a:r>
            <a:endParaRPr lang="en-US" altLang="zh-CN" sz="900" kern="100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900" kern="100" dirty="0">
                <a:latin typeface="Times New Roman" panose="02020603050405020304" pitchFamily="18" charset="0"/>
              </a:rPr>
              <a:t>Kernel</a:t>
            </a:r>
            <a:endParaRPr lang="en-CN" sz="9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8A024EB6-81D1-C3AE-C9FF-3005E51EE63C}"/>
              </a:ext>
            </a:extLst>
          </p:cNvPr>
          <p:cNvSpPr txBox="1"/>
          <p:nvPr/>
        </p:nvSpPr>
        <p:spPr>
          <a:xfrm>
            <a:off x="4791919" y="1258548"/>
            <a:ext cx="731442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CN" altLang="zh-CN" sz="10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Backbone</a:t>
            </a:r>
            <a:endParaRPr lang="en-CN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4AEE0F30-EE78-9E17-FC17-CB393AF5C78B}"/>
              </a:ext>
            </a:extLst>
          </p:cNvPr>
          <p:cNvSpPr txBox="1"/>
          <p:nvPr/>
        </p:nvSpPr>
        <p:spPr>
          <a:xfrm>
            <a:off x="2868031" y="4231373"/>
            <a:ext cx="869902" cy="36933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Initial</a:t>
            </a:r>
            <a:r>
              <a:rPr lang="zh-CN" altLang="en-US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Decoder</a:t>
            </a:r>
            <a:endParaRPr lang="en-CN" sz="1200" dirty="0">
              <a:solidFill>
                <a:srgbClr val="BF9001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A490808-5271-FF72-43BD-9A9C4702E7F8}"/>
              </a:ext>
            </a:extLst>
          </p:cNvPr>
          <p:cNvSpPr txBox="1"/>
          <p:nvPr/>
        </p:nvSpPr>
        <p:spPr>
          <a:xfrm>
            <a:off x="7422845" y="2252403"/>
            <a:ext cx="1201032" cy="461665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CN" altLang="zh-CN" sz="1000" b="1" kern="100" dirty="0">
                <a:solidFill>
                  <a:srgbClr val="538234"/>
                </a:solidFill>
                <a:latin typeface="Times New Roman" panose="02020603050405020304" pitchFamily="18" charset="0"/>
              </a:rPr>
              <a:t>Squeeze</a:t>
            </a:r>
            <a:r>
              <a:rPr lang="en-US" altLang="zh-CN" sz="1000" b="1" kern="100" dirty="0">
                <a:solidFill>
                  <a:srgbClr val="538234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1000" b="1" kern="100" dirty="0">
                <a:solidFill>
                  <a:srgbClr val="538234"/>
                </a:solidFill>
                <a:latin typeface="Times New Roman" panose="02020603050405020304" pitchFamily="18" charset="0"/>
              </a:rPr>
              <a:t> </a:t>
            </a:r>
            <a:endParaRPr lang="en-US" altLang="zh-CN" sz="1000" b="1" kern="100" dirty="0">
              <a:solidFill>
                <a:srgbClr val="538234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1000" b="1" kern="100" dirty="0">
                <a:solidFill>
                  <a:srgbClr val="538234"/>
                </a:solidFill>
                <a:latin typeface="Times New Roman" panose="02020603050405020304" pitchFamily="18" charset="0"/>
              </a:rPr>
              <a:t>&amp;</a:t>
            </a:r>
          </a:p>
          <a:p>
            <a:pPr algn="ctr"/>
            <a:r>
              <a:rPr lang="zh-CN" altLang="en-US" sz="1000" b="1" kern="100" dirty="0">
                <a:solidFill>
                  <a:srgbClr val="538234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000" b="1" kern="100" dirty="0">
                <a:solidFill>
                  <a:srgbClr val="538234"/>
                </a:solidFill>
                <a:latin typeface="Times New Roman" panose="02020603050405020304" pitchFamily="18" charset="0"/>
              </a:rPr>
              <a:t>Encoder</a:t>
            </a:r>
            <a:endParaRPr lang="en-CN" sz="1000" b="1" dirty="0">
              <a:solidFill>
                <a:srgbClr val="538234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A35984FC-9510-DD64-D92A-CA677CD1479C}"/>
              </a:ext>
            </a:extLst>
          </p:cNvPr>
          <p:cNvSpPr txBox="1"/>
          <p:nvPr/>
        </p:nvSpPr>
        <p:spPr>
          <a:xfrm>
            <a:off x="2843509" y="3083608"/>
            <a:ext cx="124033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ECG</a:t>
            </a:r>
            <a:r>
              <a:rPr lang="zh-CN" altLang="en-US" sz="10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0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Feature</a:t>
            </a:r>
            <a:r>
              <a:rPr lang="zh-CN" altLang="en-US" sz="10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0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Decoder</a:t>
            </a:r>
            <a:endParaRPr lang="en-CN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24C6B7-D3CA-BF49-CB86-48760B43BD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0804" y="1492833"/>
            <a:ext cx="543259" cy="787171"/>
          </a:xfrm>
          <a:prstGeom prst="rect">
            <a:avLst/>
          </a:prstGeom>
        </p:spPr>
      </p:pic>
      <p:sp>
        <p:nvSpPr>
          <p:cNvPr id="343" name="Rectangle 342">
            <a:extLst>
              <a:ext uri="{FF2B5EF4-FFF2-40B4-BE49-F238E27FC236}">
                <a16:creationId xmlns:a16="http://schemas.microsoft.com/office/drawing/2014/main" id="{756B16E4-50CC-4C9F-54FA-48CB1D8D5CD4}"/>
              </a:ext>
            </a:extLst>
          </p:cNvPr>
          <p:cNvSpPr/>
          <p:nvPr/>
        </p:nvSpPr>
        <p:spPr>
          <a:xfrm>
            <a:off x="3952091" y="4047994"/>
            <a:ext cx="873417" cy="431153"/>
          </a:xfrm>
          <a:prstGeom prst="rect">
            <a:avLst/>
          </a:prstGeom>
          <a:solidFill>
            <a:srgbClr val="FFD966">
              <a:alpha val="60337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Params.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endParaRPr lang="en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直线箭头连接符 356">
            <a:extLst>
              <a:ext uri="{FF2B5EF4-FFF2-40B4-BE49-F238E27FC236}">
                <a16:creationId xmlns:a16="http://schemas.microsoft.com/office/drawing/2014/main" id="{9C34CA5F-5886-9573-F749-95F2FD0EF796}"/>
              </a:ext>
            </a:extLst>
          </p:cNvPr>
          <p:cNvCxnSpPr/>
          <p:nvPr/>
        </p:nvCxnSpPr>
        <p:spPr>
          <a:xfrm>
            <a:off x="6667295" y="2385940"/>
            <a:ext cx="207340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rapezoid 354">
            <a:extLst>
              <a:ext uri="{FF2B5EF4-FFF2-40B4-BE49-F238E27FC236}">
                <a16:creationId xmlns:a16="http://schemas.microsoft.com/office/drawing/2014/main" id="{ADEF8028-9689-AA05-844A-B2D24FCBEFFA}"/>
              </a:ext>
            </a:extLst>
          </p:cNvPr>
          <p:cNvSpPr/>
          <p:nvPr/>
        </p:nvSpPr>
        <p:spPr>
          <a:xfrm rot="16200000">
            <a:off x="4643583" y="3222505"/>
            <a:ext cx="619719" cy="534974"/>
          </a:xfrm>
          <a:prstGeom prst="trapezoid">
            <a:avLst/>
          </a:prstGeom>
          <a:solidFill>
            <a:srgbClr val="FFD966">
              <a:alpha val="60000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rIns="0" rtlCol="0" anchor="ctr"/>
          <a:lstStyle/>
          <a:p>
            <a:pPr algn="ctr"/>
            <a:r>
              <a:rPr lang="en-US" altLang="zh-CN" sz="11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</a:t>
            </a:r>
            <a:r>
              <a:rPr lang="zh-CN" altLang="en-US" sz="11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DF060D82-DD22-3AE7-D41D-67D150709ED8}"/>
              </a:ext>
            </a:extLst>
          </p:cNvPr>
          <p:cNvSpPr txBox="1"/>
          <p:nvPr/>
        </p:nvSpPr>
        <p:spPr>
          <a:xfrm>
            <a:off x="4241906" y="3006517"/>
            <a:ext cx="1927826" cy="18466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Temporal</a:t>
            </a:r>
            <a:r>
              <a:rPr lang="zh-CN" altLang="en-US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Feature</a:t>
            </a:r>
            <a:r>
              <a:rPr lang="zh-CN" altLang="en-US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Decoder</a:t>
            </a:r>
            <a:endParaRPr lang="en-CN" sz="1200" dirty="0">
              <a:solidFill>
                <a:srgbClr val="BF9001"/>
              </a:solidFill>
            </a:endParaRPr>
          </a:p>
        </p:txBody>
      </p:sp>
      <p:cxnSp>
        <p:nvCxnSpPr>
          <p:cNvPr id="368" name="Elbow Connector 367">
            <a:extLst>
              <a:ext uri="{FF2B5EF4-FFF2-40B4-BE49-F238E27FC236}">
                <a16:creationId xmlns:a16="http://schemas.microsoft.com/office/drawing/2014/main" id="{B183AB68-E162-35C0-6260-59A163FC3398}"/>
              </a:ext>
            </a:extLst>
          </p:cNvPr>
          <p:cNvCxnSpPr>
            <a:cxnSpLocks/>
            <a:stCxn id="355" idx="0"/>
            <a:endCxn id="343" idx="1"/>
          </p:cNvCxnSpPr>
          <p:nvPr/>
        </p:nvCxnSpPr>
        <p:spPr>
          <a:xfrm rot="10800000" flipV="1">
            <a:off x="3952092" y="3489991"/>
            <a:ext cx="733865" cy="773579"/>
          </a:xfrm>
          <a:prstGeom prst="bentConnector3">
            <a:avLst>
              <a:gd name="adj1" fmla="val 132688"/>
            </a:avLst>
          </a:prstGeom>
          <a:ln w="28575">
            <a:solidFill>
              <a:srgbClr val="76717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直线箭头连接符 356">
            <a:extLst>
              <a:ext uri="{FF2B5EF4-FFF2-40B4-BE49-F238E27FC236}">
                <a16:creationId xmlns:a16="http://schemas.microsoft.com/office/drawing/2014/main" id="{C0DF6CBE-EB31-7C52-F57A-3D74639B72E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543292" y="3858917"/>
            <a:ext cx="18000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non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直线箭头连接符 356">
            <a:extLst>
              <a:ext uri="{FF2B5EF4-FFF2-40B4-BE49-F238E27FC236}">
                <a16:creationId xmlns:a16="http://schemas.microsoft.com/office/drawing/2014/main" id="{DCBAEF1C-A76F-569F-4047-56CC015F2C5F}"/>
              </a:ext>
            </a:extLst>
          </p:cNvPr>
          <p:cNvCxnSpPr>
            <a:cxnSpLocks/>
            <a:stCxn id="343" idx="3"/>
            <a:endCxn id="383" idx="1"/>
          </p:cNvCxnSpPr>
          <p:nvPr/>
        </p:nvCxnSpPr>
        <p:spPr>
          <a:xfrm flipV="1">
            <a:off x="4825508" y="4262873"/>
            <a:ext cx="428317" cy="69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3" name="Rectangle 382">
            <a:extLst>
              <a:ext uri="{FF2B5EF4-FFF2-40B4-BE49-F238E27FC236}">
                <a16:creationId xmlns:a16="http://schemas.microsoft.com/office/drawing/2014/main" id="{AAD2F698-D73D-863E-6379-E6093A37A8BD}"/>
              </a:ext>
            </a:extLst>
          </p:cNvPr>
          <p:cNvSpPr/>
          <p:nvPr/>
        </p:nvSpPr>
        <p:spPr>
          <a:xfrm>
            <a:off x="5253825" y="4047296"/>
            <a:ext cx="873417" cy="431153"/>
          </a:xfrm>
          <a:prstGeom prst="rect">
            <a:avLst/>
          </a:prstGeom>
          <a:solidFill>
            <a:srgbClr val="FFD966">
              <a:alpha val="60337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  <a:endParaRPr lang="en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810D16DF-D293-37C5-ADAA-F3D9CDED06BE}"/>
                  </a:ext>
                </a:extLst>
              </p:cNvPr>
              <p:cNvSpPr txBox="1"/>
              <p:nvPr/>
            </p:nvSpPr>
            <p:spPr>
              <a:xfrm>
                <a:off x="4791241" y="4036765"/>
                <a:ext cx="534973" cy="18466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CN" sz="1200" dirty="0"/>
              </a:p>
            </p:txBody>
          </p:sp>
        </mc:Choice>
        <mc:Fallback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810D16DF-D293-37C5-ADAA-F3D9CDED0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241" y="4036765"/>
                <a:ext cx="534973" cy="184666"/>
              </a:xfrm>
              <a:prstGeom prst="rect">
                <a:avLst/>
              </a:prstGeom>
              <a:blipFill>
                <a:blip r:embed="rId9"/>
                <a:stretch>
                  <a:fillRect b="-25000"/>
                </a:stretch>
              </a:blipFill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6" name="Rectangle 405">
            <a:extLst>
              <a:ext uri="{FF2B5EF4-FFF2-40B4-BE49-F238E27FC236}">
                <a16:creationId xmlns:a16="http://schemas.microsoft.com/office/drawing/2014/main" id="{042BC8E1-C3E2-4702-8969-40B6B473FBD6}"/>
              </a:ext>
            </a:extLst>
          </p:cNvPr>
          <p:cNvSpPr/>
          <p:nvPr/>
        </p:nvSpPr>
        <p:spPr>
          <a:xfrm>
            <a:off x="6343385" y="3656994"/>
            <a:ext cx="873417" cy="431153"/>
          </a:xfrm>
          <a:prstGeom prst="rect">
            <a:avLst/>
          </a:prstGeom>
          <a:solidFill>
            <a:srgbClr val="A9D18E">
              <a:alpha val="60337"/>
            </a:srgbClr>
          </a:solidFill>
          <a:ln>
            <a:solidFill>
              <a:srgbClr val="5382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5382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</a:p>
          <a:p>
            <a:pPr algn="ctr"/>
            <a:r>
              <a:rPr lang="en-CN" altLang="zh-CN" sz="1200" dirty="0">
                <a:solidFill>
                  <a:srgbClr val="5382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endParaRPr lang="en-CN" sz="1200" dirty="0">
              <a:solidFill>
                <a:srgbClr val="5382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A467CEA9-46AA-87C6-23F1-FB0BD1CBDE7C}"/>
              </a:ext>
            </a:extLst>
          </p:cNvPr>
          <p:cNvSpPr txBox="1"/>
          <p:nvPr/>
        </p:nvSpPr>
        <p:spPr>
          <a:xfrm>
            <a:off x="6216409" y="3052830"/>
            <a:ext cx="964847" cy="36933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Temporal</a:t>
            </a: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Feature</a:t>
            </a:r>
            <a:endParaRPr lang="en-CN" sz="1200" dirty="0"/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06C5323B-C037-A97F-28B4-4E5561AB97C4}"/>
              </a:ext>
            </a:extLst>
          </p:cNvPr>
          <p:cNvSpPr txBox="1"/>
          <p:nvPr/>
        </p:nvSpPr>
        <p:spPr>
          <a:xfrm>
            <a:off x="6177977" y="4369116"/>
            <a:ext cx="1153571" cy="36933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Morphological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endParaRPr lang="en-US" altLang="zh-CN" sz="1200" kern="100" dirty="0">
              <a:latin typeface="Times New Roman" panose="02020603050405020304" pitchFamily="18" charset="0"/>
            </a:endParaRPr>
          </a:p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Feature</a:t>
            </a:r>
            <a:endParaRPr lang="en-CN" sz="1200" dirty="0"/>
          </a:p>
        </p:txBody>
      </p:sp>
      <p:cxnSp>
        <p:nvCxnSpPr>
          <p:cNvPr id="421" name="Elbow Connector 420">
            <a:extLst>
              <a:ext uri="{FF2B5EF4-FFF2-40B4-BE49-F238E27FC236}">
                <a16:creationId xmlns:a16="http://schemas.microsoft.com/office/drawing/2014/main" id="{F87C97CE-C5E1-31B4-8100-8D110D511458}"/>
              </a:ext>
            </a:extLst>
          </p:cNvPr>
          <p:cNvCxnSpPr>
            <a:cxnSpLocks/>
            <a:stCxn id="355" idx="2"/>
            <a:endCxn id="406" idx="0"/>
          </p:cNvCxnSpPr>
          <p:nvPr/>
        </p:nvCxnSpPr>
        <p:spPr>
          <a:xfrm>
            <a:off x="5220930" y="3489991"/>
            <a:ext cx="1559164" cy="167003"/>
          </a:xfrm>
          <a:prstGeom prst="bentConnector2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Elbow Connector 423">
            <a:extLst>
              <a:ext uri="{FF2B5EF4-FFF2-40B4-BE49-F238E27FC236}">
                <a16:creationId xmlns:a16="http://schemas.microsoft.com/office/drawing/2014/main" id="{AA56F36A-FD0C-6F69-CB82-A40C46AF6535}"/>
              </a:ext>
            </a:extLst>
          </p:cNvPr>
          <p:cNvCxnSpPr>
            <a:cxnSpLocks/>
            <a:stCxn id="383" idx="3"/>
            <a:endCxn id="406" idx="2"/>
          </p:cNvCxnSpPr>
          <p:nvPr/>
        </p:nvCxnSpPr>
        <p:spPr>
          <a:xfrm flipV="1">
            <a:off x="6127242" y="4088147"/>
            <a:ext cx="652852" cy="174726"/>
          </a:xfrm>
          <a:prstGeom prst="bentConnector2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箭头连接符 256">
            <a:extLst>
              <a:ext uri="{FF2B5EF4-FFF2-40B4-BE49-F238E27FC236}">
                <a16:creationId xmlns:a16="http://schemas.microsoft.com/office/drawing/2014/main" id="{D41E9E1A-D05B-E5CE-3469-9F3E4789A3CB}"/>
              </a:ext>
            </a:extLst>
          </p:cNvPr>
          <p:cNvCxnSpPr>
            <a:cxnSpLocks/>
            <a:stCxn id="406" idx="3"/>
          </p:cNvCxnSpPr>
          <p:nvPr/>
        </p:nvCxnSpPr>
        <p:spPr>
          <a:xfrm flipV="1">
            <a:off x="7216802" y="3869480"/>
            <a:ext cx="366542" cy="3091"/>
          </a:xfrm>
          <a:prstGeom prst="straightConnector1">
            <a:avLst/>
          </a:prstGeom>
          <a:ln w="38100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5A81FF-09E6-539B-2B42-A63DD3A6DA42}"/>
                  </a:ext>
                </a:extLst>
              </p:cNvPr>
              <p:cNvSpPr txBox="1"/>
              <p:nvPr/>
            </p:nvSpPr>
            <p:spPr>
              <a:xfrm>
                <a:off x="7495795" y="4166158"/>
                <a:ext cx="1271627" cy="55399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200" kern="100" dirty="0">
                    <a:latin typeface="Times New Roman" panose="02020603050405020304" pitchFamily="18" charset="0"/>
                  </a:rPr>
                  <a:t>Estimated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endParaRPr lang="en-US" altLang="zh-CN" sz="1200" kern="100" dirty="0">
                  <a:latin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kern="100" dirty="0">
                    <a:latin typeface="Times New Roman" panose="02020603050405020304" pitchFamily="18" charset="0"/>
                  </a:rPr>
                  <a:t>Single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Cycle</a:t>
                </a:r>
                <a:r>
                  <a:rPr lang="zh-CN" altLang="en-US" sz="1200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200" kern="100" dirty="0">
                    <a:latin typeface="Times New Roman" panose="02020603050405020304" pitchFamily="18" charset="0"/>
                  </a:rPr>
                  <a:t>ECG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2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altLang="zh-CN" sz="1200" kern="1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5A81FF-09E6-539B-2B42-A63DD3A6D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795" y="4166158"/>
                <a:ext cx="1271627" cy="553998"/>
              </a:xfrm>
              <a:prstGeom prst="rect">
                <a:avLst/>
              </a:prstGeom>
              <a:blipFill>
                <a:blip r:embed="rId10"/>
                <a:stretch>
                  <a:fillRect l="-1980" t="-6667" r="-1980" b="-22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01021F0-A92E-307B-E6D3-4EAE777B046B}"/>
              </a:ext>
            </a:extLst>
          </p:cNvPr>
          <p:cNvGrpSpPr/>
          <p:nvPr/>
        </p:nvGrpSpPr>
        <p:grpSpPr>
          <a:xfrm>
            <a:off x="7549815" y="3329920"/>
            <a:ext cx="1058501" cy="758441"/>
            <a:chOff x="769799" y="5191771"/>
            <a:chExt cx="1337059" cy="94804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86B56C5-A6F4-8C22-1262-A56CF4E4888F}"/>
                </a:ext>
              </a:extLst>
            </p:cNvPr>
            <p:cNvGrpSpPr/>
            <p:nvPr/>
          </p:nvGrpSpPr>
          <p:grpSpPr>
            <a:xfrm>
              <a:off x="769799" y="5191771"/>
              <a:ext cx="1337059" cy="948049"/>
              <a:chOff x="234948" y="5146741"/>
              <a:chExt cx="1280693" cy="569634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CF5F072-4EF5-B27C-C901-A020978B7F2A}"/>
                  </a:ext>
                </a:extLst>
              </p:cNvPr>
              <p:cNvPicPr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9641" y="5146741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1596CAD-67D5-9EC8-5C0C-A27BE103563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88395" y="5286277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9C5C70C-4811-055D-E1A1-E44EA4B49C4F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4948" y="5356375"/>
                <a:ext cx="936000" cy="3600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A21E0B-E0BF-51E3-561C-1FF5BF0CD1B5}"/>
                </a:ext>
              </a:extLst>
            </p:cNvPr>
            <p:cNvSpPr txBox="1"/>
            <p:nvPr/>
          </p:nvSpPr>
          <p:spPr>
            <a:xfrm rot="18226598">
              <a:off x="1522344" y="5641359"/>
              <a:ext cx="352602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600" dirty="0"/>
                <a:t>…</a:t>
              </a:r>
              <a:endParaRPr lang="en-CN" sz="1600" dirty="0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AAA64B-ECD7-7F07-7364-10F9FE450BA4}"/>
              </a:ext>
            </a:extLst>
          </p:cNvPr>
          <p:cNvCxnSpPr>
            <a:cxnSpLocks/>
          </p:cNvCxnSpPr>
          <p:nvPr/>
        </p:nvCxnSpPr>
        <p:spPr>
          <a:xfrm flipV="1">
            <a:off x="3938608" y="1204558"/>
            <a:ext cx="581628" cy="453335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11B894-5902-DDFF-47E2-B3A07B41285C}"/>
              </a:ext>
            </a:extLst>
          </p:cNvPr>
          <p:cNvCxnSpPr>
            <a:cxnSpLocks/>
          </p:cNvCxnSpPr>
          <p:nvPr/>
        </p:nvCxnSpPr>
        <p:spPr>
          <a:xfrm flipV="1">
            <a:off x="3959741" y="1762443"/>
            <a:ext cx="537479" cy="456924"/>
          </a:xfrm>
          <a:prstGeom prst="line">
            <a:avLst/>
          </a:prstGeom>
          <a:ln w="28575">
            <a:solidFill>
              <a:schemeClr val="tx1">
                <a:alpha val="64217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rapezoid 3">
            <a:extLst>
              <a:ext uri="{FF2B5EF4-FFF2-40B4-BE49-F238E27FC236}">
                <a16:creationId xmlns:a16="http://schemas.microsoft.com/office/drawing/2014/main" id="{613D8DAA-0B4F-6A0A-3895-F76772A289DF}"/>
              </a:ext>
            </a:extLst>
          </p:cNvPr>
          <p:cNvSpPr/>
          <p:nvPr/>
        </p:nvSpPr>
        <p:spPr>
          <a:xfrm rot="16200000">
            <a:off x="2965945" y="3591430"/>
            <a:ext cx="619719" cy="534974"/>
          </a:xfrm>
          <a:prstGeom prst="trapezoid">
            <a:avLst/>
          </a:prstGeom>
          <a:solidFill>
            <a:srgbClr val="FFD966">
              <a:alpha val="60000"/>
            </a:srgbClr>
          </a:solidFill>
          <a:ln>
            <a:solidFill>
              <a:srgbClr val="BF9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rIns="0" rtlCol="0" anchor="ctr"/>
          <a:lstStyle/>
          <a:p>
            <a:pPr algn="ctr"/>
            <a:r>
              <a:rPr lang="en-US" altLang="zh-CN" sz="11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</a:t>
            </a:r>
            <a:r>
              <a:rPr lang="zh-CN" altLang="en-US" sz="11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C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37AE4-0362-A8D3-2AF0-FDCD4F1B4B49}"/>
              </a:ext>
            </a:extLst>
          </p:cNvPr>
          <p:cNvSpPr txBox="1"/>
          <p:nvPr/>
        </p:nvSpPr>
        <p:spPr>
          <a:xfrm>
            <a:off x="4480243" y="4541925"/>
            <a:ext cx="1140045" cy="18466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ODE</a:t>
            </a:r>
            <a:r>
              <a:rPr lang="zh-CN" altLang="en-US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solidFill>
                  <a:srgbClr val="BF9001"/>
                </a:solidFill>
                <a:latin typeface="Times New Roman" panose="02020603050405020304" pitchFamily="18" charset="0"/>
              </a:rPr>
              <a:t>Decoder</a:t>
            </a:r>
            <a:endParaRPr lang="en-CN" sz="1200" dirty="0">
              <a:solidFill>
                <a:srgbClr val="BF9001"/>
              </a:solidFill>
            </a:endParaRPr>
          </a:p>
        </p:txBody>
      </p:sp>
      <p:cxnSp>
        <p:nvCxnSpPr>
          <p:cNvPr id="327" name="直线箭头连接符 356">
            <a:extLst>
              <a:ext uri="{FF2B5EF4-FFF2-40B4-BE49-F238E27FC236}">
                <a16:creationId xmlns:a16="http://schemas.microsoft.com/office/drawing/2014/main" id="{E46EAF38-6679-5629-04FF-75C494A38495}"/>
              </a:ext>
            </a:extLst>
          </p:cNvPr>
          <p:cNvCxnSpPr>
            <a:cxnSpLocks/>
          </p:cNvCxnSpPr>
          <p:nvPr/>
        </p:nvCxnSpPr>
        <p:spPr>
          <a:xfrm>
            <a:off x="7404616" y="1911607"/>
            <a:ext cx="400501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0CF53A-D4D6-161B-F810-9C33E285C75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769" y="2280004"/>
            <a:ext cx="158836" cy="176484"/>
          </a:xfrm>
          <a:prstGeom prst="rect">
            <a:avLst/>
          </a:prstGeom>
        </p:spPr>
      </p:pic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B0FB60C-B3E6-24CF-50D2-795A135A2731}"/>
              </a:ext>
            </a:extLst>
          </p:cNvPr>
          <p:cNvCxnSpPr>
            <a:cxnSpLocks/>
            <a:stCxn id="2" idx="3"/>
            <a:endCxn id="4" idx="0"/>
          </p:cNvCxnSpPr>
          <p:nvPr/>
        </p:nvCxnSpPr>
        <p:spPr>
          <a:xfrm flipH="1">
            <a:off x="3008318" y="1886419"/>
            <a:ext cx="5315745" cy="1972498"/>
          </a:xfrm>
          <a:prstGeom prst="bentConnector5">
            <a:avLst>
              <a:gd name="adj1" fmla="val -4300"/>
              <a:gd name="adj2" fmla="val 48045"/>
              <a:gd name="adj3" fmla="val 105829"/>
            </a:avLst>
          </a:prstGeom>
          <a:ln w="38100" cap="rnd">
            <a:solidFill>
              <a:srgbClr val="767171"/>
            </a:solidFill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57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57641</TotalTime>
  <Words>62</Words>
  <Application>Microsoft Macintosh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258</cp:revision>
  <cp:lastPrinted>2021-09-11T15:09:31Z</cp:lastPrinted>
  <dcterms:created xsi:type="dcterms:W3CDTF">2021-09-09T10:17:34Z</dcterms:created>
  <dcterms:modified xsi:type="dcterms:W3CDTF">2025-05-08T13:53:57Z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