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3"/>
  </p:notesMasterIdLst>
  <p:sldIdLst>
    <p:sldId id="565" r:id="rId2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ang, Yuanyuan" initials="ZY" lastIdx="1" clrIdx="0">
    <p:extLst>
      <p:ext uri="{19B8F6BF-5375-455C-9EA6-DF929625EA0E}">
        <p15:presenceInfo xmlns:p15="http://schemas.microsoft.com/office/powerpoint/2012/main" userId="S::yz8620@ic.ac.uk::f9116fea-3e58-421d-893a-e0ed7012a8d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BF9001"/>
    <a:srgbClr val="C75A11"/>
    <a:srgbClr val="C65A11"/>
    <a:srgbClr val="767171"/>
    <a:srgbClr val="385723"/>
    <a:srgbClr val="7997CC"/>
    <a:srgbClr val="D7BF7E"/>
    <a:srgbClr val="FAEAAA"/>
    <a:srgbClr val="5382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89" autoAdjust="0"/>
    <p:restoredTop sz="97030"/>
  </p:normalViewPr>
  <p:slideViewPr>
    <p:cSldViewPr snapToGrid="0">
      <p:cViewPr>
        <p:scale>
          <a:sx n="98" d="100"/>
          <a:sy n="98" d="100"/>
        </p:scale>
        <p:origin x="376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2025/5/8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DA1EC-A8CC-37EE-417A-13A3838F2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D9E56BC-13B8-F871-53D4-770A1ABCDC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876531C-2CD3-FBB4-10C5-EA0A0967901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Already</a:t>
            </a:r>
            <a:r>
              <a:rPr lang="zh-CN" altLang="en-US" dirty="0"/>
              <a:t> </a:t>
            </a:r>
            <a:r>
              <a:rPr lang="en-US" altLang="zh-CN" dirty="0"/>
              <a:t>graduated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will</a:t>
            </a:r>
            <a:r>
              <a:rPr lang="zh-CN" altLang="en-US" dirty="0"/>
              <a:t> </a:t>
            </a:r>
            <a:r>
              <a:rPr lang="en-US" altLang="zh-CN" dirty="0"/>
              <a:t>get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degree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November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07950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22929-8D04-F84D-8435-1F93213EE224}" type="datetime1">
              <a:rPr lang="zh-CN" altLang="en-US" smtClean="0"/>
              <a:t>2025/5/8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771A7-465B-7947-83B1-CB7238E27686}" type="datetime1">
              <a:rPr lang="zh-CN" altLang="en-US" smtClean="0"/>
              <a:t>2025/5/8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9B366-E249-8545-982D-E96378BBAC2D}" type="datetime1">
              <a:rPr lang="zh-CN" altLang="en-US" smtClean="0"/>
              <a:t>2025/5/8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1AC20-6770-D34F-9308-718C0AE9D568}" type="datetime1">
              <a:rPr lang="zh-CN" altLang="en-US" smtClean="0"/>
              <a:t>2025/5/8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94035-B419-9245-86B4-CB668996A490}" type="datetime1">
              <a:rPr lang="zh-CN" altLang="en-US" smtClean="0"/>
              <a:t>2025/5/8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5C118-A5A8-D94E-86CF-BA313BA47A0D}" type="datetime1">
              <a:rPr lang="zh-CN" altLang="en-US" smtClean="0"/>
              <a:t>2025/5/8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946C2-2F8B-5D4C-AB7E-A009B6015ABB}" type="datetime1">
              <a:rPr lang="zh-CN" altLang="en-US" smtClean="0"/>
              <a:t>2025/5/8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188A3-47F4-C64A-965B-8F6A2766F8DD}" type="datetime1">
              <a:rPr lang="zh-CN" altLang="en-US" smtClean="0"/>
              <a:t>2025/5/8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AF128-6D76-D64D-9F16-F819398E651E}" type="datetime1">
              <a:rPr lang="zh-CN" altLang="en-US" smtClean="0"/>
              <a:t>2025/5/8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4EF3B-EB08-DE4D-8F1F-D62D9AC84E58}" type="datetime1">
              <a:rPr lang="zh-CN" altLang="en-US" smtClean="0"/>
              <a:t>2025/5/8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4AF6E1-9D43-E74D-8E5B-6DC1FA663828}" type="datetime1">
              <a:rPr lang="zh-CN" altLang="en-US" smtClean="0"/>
              <a:t>2025/5/8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F836C-112B-0EFB-74E1-AF87AA8E0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C4FDBED-D8DB-E846-8FF7-14E44E958A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11" t="4622" r="5688"/>
          <a:stretch/>
        </p:blipFill>
        <p:spPr>
          <a:xfrm>
            <a:off x="5818230" y="788083"/>
            <a:ext cx="1475934" cy="1243631"/>
          </a:xfrm>
          <a:prstGeom prst="rect">
            <a:avLst/>
          </a:prstGeom>
        </p:spPr>
      </p:pic>
      <p:sp>
        <p:nvSpPr>
          <p:cNvPr id="1249" name="Rectangle 1248">
            <a:extLst>
              <a:ext uri="{FF2B5EF4-FFF2-40B4-BE49-F238E27FC236}">
                <a16:creationId xmlns:a16="http://schemas.microsoft.com/office/drawing/2014/main" id="{0BA90F0A-D823-73DD-9AB9-7F0967D4FEEA}"/>
              </a:ext>
            </a:extLst>
          </p:cNvPr>
          <p:cNvSpPr/>
          <p:nvPr/>
        </p:nvSpPr>
        <p:spPr>
          <a:xfrm>
            <a:off x="3186192" y="3398806"/>
            <a:ext cx="2047955" cy="229858"/>
          </a:xfrm>
          <a:prstGeom prst="rect">
            <a:avLst/>
          </a:prstGeom>
          <a:solidFill>
            <a:schemeClr val="bg2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aphicFrame>
        <p:nvGraphicFramePr>
          <p:cNvPr id="1234" name="Table 1233">
            <a:extLst>
              <a:ext uri="{FF2B5EF4-FFF2-40B4-BE49-F238E27FC236}">
                <a16:creationId xmlns:a16="http://schemas.microsoft.com/office/drawing/2014/main" id="{7AB6FDA7-ED58-1361-4D1F-B3949C2B06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3767645"/>
              </p:ext>
            </p:extLst>
          </p:nvPr>
        </p:nvGraphicFramePr>
        <p:xfrm>
          <a:off x="1475168" y="2259735"/>
          <a:ext cx="1091048" cy="10362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5864">
                  <a:extLst>
                    <a:ext uri="{9D8B030D-6E8A-4147-A177-3AD203B41FA5}">
                      <a16:colId xmlns:a16="http://schemas.microsoft.com/office/drawing/2014/main" val="2259387484"/>
                    </a:ext>
                  </a:extLst>
                </a:gridCol>
                <a:gridCol w="155864">
                  <a:extLst>
                    <a:ext uri="{9D8B030D-6E8A-4147-A177-3AD203B41FA5}">
                      <a16:colId xmlns:a16="http://schemas.microsoft.com/office/drawing/2014/main" val="1206924570"/>
                    </a:ext>
                  </a:extLst>
                </a:gridCol>
                <a:gridCol w="155864">
                  <a:extLst>
                    <a:ext uri="{9D8B030D-6E8A-4147-A177-3AD203B41FA5}">
                      <a16:colId xmlns:a16="http://schemas.microsoft.com/office/drawing/2014/main" val="3576974948"/>
                    </a:ext>
                  </a:extLst>
                </a:gridCol>
                <a:gridCol w="155864">
                  <a:extLst>
                    <a:ext uri="{9D8B030D-6E8A-4147-A177-3AD203B41FA5}">
                      <a16:colId xmlns:a16="http://schemas.microsoft.com/office/drawing/2014/main" val="1699532788"/>
                    </a:ext>
                  </a:extLst>
                </a:gridCol>
                <a:gridCol w="155864">
                  <a:extLst>
                    <a:ext uri="{9D8B030D-6E8A-4147-A177-3AD203B41FA5}">
                      <a16:colId xmlns:a16="http://schemas.microsoft.com/office/drawing/2014/main" val="3383646108"/>
                    </a:ext>
                  </a:extLst>
                </a:gridCol>
                <a:gridCol w="155864">
                  <a:extLst>
                    <a:ext uri="{9D8B030D-6E8A-4147-A177-3AD203B41FA5}">
                      <a16:colId xmlns:a16="http://schemas.microsoft.com/office/drawing/2014/main" val="2099289821"/>
                    </a:ext>
                  </a:extLst>
                </a:gridCol>
                <a:gridCol w="155864">
                  <a:extLst>
                    <a:ext uri="{9D8B030D-6E8A-4147-A177-3AD203B41FA5}">
                      <a16:colId xmlns:a16="http://schemas.microsoft.com/office/drawing/2014/main" val="2672309383"/>
                    </a:ext>
                  </a:extLst>
                </a:gridCol>
              </a:tblGrid>
              <a:tr h="172712"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556421"/>
                  </a:ext>
                </a:extLst>
              </a:tr>
              <a:tr h="172712">
                <a:tc>
                  <a:txBody>
                    <a:bodyPr/>
                    <a:lstStyle/>
                    <a:p>
                      <a:endParaRPr lang="en-CN" sz="60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1074853"/>
                  </a:ext>
                </a:extLst>
              </a:tr>
              <a:tr h="172712"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068401"/>
                  </a:ext>
                </a:extLst>
              </a:tr>
              <a:tr h="172712">
                <a:tc>
                  <a:txBody>
                    <a:bodyPr/>
                    <a:lstStyle/>
                    <a:p>
                      <a:endParaRPr lang="en-CN" sz="60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8102630"/>
                  </a:ext>
                </a:extLst>
              </a:tr>
              <a:tr h="172712">
                <a:tc>
                  <a:txBody>
                    <a:bodyPr/>
                    <a:lstStyle/>
                    <a:p>
                      <a:endParaRPr lang="en-CN" sz="60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4012795"/>
                  </a:ext>
                </a:extLst>
              </a:tr>
              <a:tr h="172712">
                <a:tc>
                  <a:txBody>
                    <a:bodyPr/>
                    <a:lstStyle/>
                    <a:p>
                      <a:endParaRPr lang="en-CN" sz="60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135461"/>
                  </a:ext>
                </a:extLst>
              </a:tr>
            </a:tbl>
          </a:graphicData>
        </a:graphic>
      </p:graphicFrame>
      <p:graphicFrame>
        <p:nvGraphicFramePr>
          <p:cNvPr id="1058" name="Table 1057">
            <a:extLst>
              <a:ext uri="{FF2B5EF4-FFF2-40B4-BE49-F238E27FC236}">
                <a16:creationId xmlns:a16="http://schemas.microsoft.com/office/drawing/2014/main" id="{00C49C9E-F370-BEAD-0FD4-820FB568E7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2708700"/>
              </p:ext>
            </p:extLst>
          </p:nvPr>
        </p:nvGraphicFramePr>
        <p:xfrm>
          <a:off x="6029813" y="2481146"/>
          <a:ext cx="1091048" cy="10362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5864">
                  <a:extLst>
                    <a:ext uri="{9D8B030D-6E8A-4147-A177-3AD203B41FA5}">
                      <a16:colId xmlns:a16="http://schemas.microsoft.com/office/drawing/2014/main" val="2259387484"/>
                    </a:ext>
                  </a:extLst>
                </a:gridCol>
                <a:gridCol w="155864">
                  <a:extLst>
                    <a:ext uri="{9D8B030D-6E8A-4147-A177-3AD203B41FA5}">
                      <a16:colId xmlns:a16="http://schemas.microsoft.com/office/drawing/2014/main" val="1206924570"/>
                    </a:ext>
                  </a:extLst>
                </a:gridCol>
                <a:gridCol w="155864">
                  <a:extLst>
                    <a:ext uri="{9D8B030D-6E8A-4147-A177-3AD203B41FA5}">
                      <a16:colId xmlns:a16="http://schemas.microsoft.com/office/drawing/2014/main" val="3576974948"/>
                    </a:ext>
                  </a:extLst>
                </a:gridCol>
                <a:gridCol w="155864">
                  <a:extLst>
                    <a:ext uri="{9D8B030D-6E8A-4147-A177-3AD203B41FA5}">
                      <a16:colId xmlns:a16="http://schemas.microsoft.com/office/drawing/2014/main" val="1699532788"/>
                    </a:ext>
                  </a:extLst>
                </a:gridCol>
                <a:gridCol w="155864">
                  <a:extLst>
                    <a:ext uri="{9D8B030D-6E8A-4147-A177-3AD203B41FA5}">
                      <a16:colId xmlns:a16="http://schemas.microsoft.com/office/drawing/2014/main" val="3383646108"/>
                    </a:ext>
                  </a:extLst>
                </a:gridCol>
                <a:gridCol w="155864">
                  <a:extLst>
                    <a:ext uri="{9D8B030D-6E8A-4147-A177-3AD203B41FA5}">
                      <a16:colId xmlns:a16="http://schemas.microsoft.com/office/drawing/2014/main" val="2099289821"/>
                    </a:ext>
                  </a:extLst>
                </a:gridCol>
                <a:gridCol w="155864">
                  <a:extLst>
                    <a:ext uri="{9D8B030D-6E8A-4147-A177-3AD203B41FA5}">
                      <a16:colId xmlns:a16="http://schemas.microsoft.com/office/drawing/2014/main" val="2672309383"/>
                    </a:ext>
                  </a:extLst>
                </a:gridCol>
              </a:tblGrid>
              <a:tr h="172712"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556421"/>
                  </a:ext>
                </a:extLst>
              </a:tr>
              <a:tr h="172712"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1074853"/>
                  </a:ext>
                </a:extLst>
              </a:tr>
              <a:tr h="172712"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068401"/>
                  </a:ext>
                </a:extLst>
              </a:tr>
              <a:tr h="172712">
                <a:tc>
                  <a:txBody>
                    <a:bodyPr/>
                    <a:lstStyle/>
                    <a:p>
                      <a:endParaRPr lang="en-CN" sz="60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8102630"/>
                  </a:ext>
                </a:extLst>
              </a:tr>
              <a:tr h="172712">
                <a:tc>
                  <a:txBody>
                    <a:bodyPr/>
                    <a:lstStyle/>
                    <a:p>
                      <a:endParaRPr lang="en-CN" sz="60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4012795"/>
                  </a:ext>
                </a:extLst>
              </a:tr>
              <a:tr h="172712">
                <a:tc>
                  <a:txBody>
                    <a:bodyPr/>
                    <a:lstStyle/>
                    <a:p>
                      <a:endParaRPr lang="en-CN" sz="60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135461"/>
                  </a:ext>
                </a:extLst>
              </a:tr>
            </a:tbl>
          </a:graphicData>
        </a:graphic>
      </p:graphicFrame>
      <p:sp>
        <p:nvSpPr>
          <p:cNvPr id="485" name="Rectangle 484">
            <a:extLst>
              <a:ext uri="{FF2B5EF4-FFF2-40B4-BE49-F238E27FC236}">
                <a16:creationId xmlns:a16="http://schemas.microsoft.com/office/drawing/2014/main" id="{6D9B951A-25DB-3316-4270-475A9DE06784}"/>
              </a:ext>
            </a:extLst>
          </p:cNvPr>
          <p:cNvSpPr/>
          <p:nvPr/>
        </p:nvSpPr>
        <p:spPr>
          <a:xfrm>
            <a:off x="2077119" y="1321645"/>
            <a:ext cx="411341" cy="840141"/>
          </a:xfrm>
          <a:prstGeom prst="rect">
            <a:avLst/>
          </a:prstGeom>
          <a:solidFill>
            <a:schemeClr val="bg2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2BB25C5F-FA12-DD88-0F1B-48E57F3E02C3}"/>
              </a:ext>
            </a:extLst>
          </p:cNvPr>
          <p:cNvSpPr txBox="1"/>
          <p:nvPr/>
        </p:nvSpPr>
        <p:spPr>
          <a:xfrm>
            <a:off x="2067183" y="1980424"/>
            <a:ext cx="424742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1000" kern="100" dirty="0">
                <a:latin typeface="Times New Roman" panose="02020603050405020304" pitchFamily="18" charset="0"/>
              </a:rPr>
              <a:t>FFT</a:t>
            </a:r>
          </a:p>
        </p:txBody>
      </p:sp>
      <p:sp>
        <p:nvSpPr>
          <p:cNvPr id="481" name="Rectangle 480">
            <a:extLst>
              <a:ext uri="{FF2B5EF4-FFF2-40B4-BE49-F238E27FC236}">
                <a16:creationId xmlns:a16="http://schemas.microsoft.com/office/drawing/2014/main" id="{B931FF27-C75F-5733-8269-616434E50AC6}"/>
              </a:ext>
            </a:extLst>
          </p:cNvPr>
          <p:cNvSpPr/>
          <p:nvPr/>
        </p:nvSpPr>
        <p:spPr>
          <a:xfrm>
            <a:off x="1414559" y="1325638"/>
            <a:ext cx="411341" cy="840141"/>
          </a:xfrm>
          <a:prstGeom prst="rect">
            <a:avLst/>
          </a:prstGeom>
          <a:solidFill>
            <a:schemeClr val="bg2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07B046E-F305-734C-0C96-6990BAA6A3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9398450"/>
              </p:ext>
            </p:extLst>
          </p:nvPr>
        </p:nvGraphicFramePr>
        <p:xfrm>
          <a:off x="1206497" y="2364535"/>
          <a:ext cx="1091048" cy="10362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5864">
                  <a:extLst>
                    <a:ext uri="{9D8B030D-6E8A-4147-A177-3AD203B41FA5}">
                      <a16:colId xmlns:a16="http://schemas.microsoft.com/office/drawing/2014/main" val="2259387484"/>
                    </a:ext>
                  </a:extLst>
                </a:gridCol>
                <a:gridCol w="155864">
                  <a:extLst>
                    <a:ext uri="{9D8B030D-6E8A-4147-A177-3AD203B41FA5}">
                      <a16:colId xmlns:a16="http://schemas.microsoft.com/office/drawing/2014/main" val="1206924570"/>
                    </a:ext>
                  </a:extLst>
                </a:gridCol>
                <a:gridCol w="155864">
                  <a:extLst>
                    <a:ext uri="{9D8B030D-6E8A-4147-A177-3AD203B41FA5}">
                      <a16:colId xmlns:a16="http://schemas.microsoft.com/office/drawing/2014/main" val="3576974948"/>
                    </a:ext>
                  </a:extLst>
                </a:gridCol>
                <a:gridCol w="155864">
                  <a:extLst>
                    <a:ext uri="{9D8B030D-6E8A-4147-A177-3AD203B41FA5}">
                      <a16:colId xmlns:a16="http://schemas.microsoft.com/office/drawing/2014/main" val="1699532788"/>
                    </a:ext>
                  </a:extLst>
                </a:gridCol>
                <a:gridCol w="155864">
                  <a:extLst>
                    <a:ext uri="{9D8B030D-6E8A-4147-A177-3AD203B41FA5}">
                      <a16:colId xmlns:a16="http://schemas.microsoft.com/office/drawing/2014/main" val="3383646108"/>
                    </a:ext>
                  </a:extLst>
                </a:gridCol>
                <a:gridCol w="155864">
                  <a:extLst>
                    <a:ext uri="{9D8B030D-6E8A-4147-A177-3AD203B41FA5}">
                      <a16:colId xmlns:a16="http://schemas.microsoft.com/office/drawing/2014/main" val="2099289821"/>
                    </a:ext>
                  </a:extLst>
                </a:gridCol>
                <a:gridCol w="155864">
                  <a:extLst>
                    <a:ext uri="{9D8B030D-6E8A-4147-A177-3AD203B41FA5}">
                      <a16:colId xmlns:a16="http://schemas.microsoft.com/office/drawing/2014/main" val="2672309383"/>
                    </a:ext>
                  </a:extLst>
                </a:gridCol>
              </a:tblGrid>
              <a:tr h="172712"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556421"/>
                  </a:ext>
                </a:extLst>
              </a:tr>
              <a:tr h="172712">
                <a:tc>
                  <a:txBody>
                    <a:bodyPr/>
                    <a:lstStyle/>
                    <a:p>
                      <a:endParaRPr lang="en-CN" sz="60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1074853"/>
                  </a:ext>
                </a:extLst>
              </a:tr>
              <a:tr h="172712"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068401"/>
                  </a:ext>
                </a:extLst>
              </a:tr>
              <a:tr h="172712">
                <a:tc>
                  <a:txBody>
                    <a:bodyPr/>
                    <a:lstStyle/>
                    <a:p>
                      <a:endParaRPr lang="en-CN" sz="60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8102630"/>
                  </a:ext>
                </a:extLst>
              </a:tr>
              <a:tr h="172712"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4012795"/>
                  </a:ext>
                </a:extLst>
              </a:tr>
              <a:tr h="172712"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13546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6ECD541-74E9-FA17-02FA-71A28419D159}"/>
              </a:ext>
            </a:extLst>
          </p:cNvPr>
          <p:cNvSpPr txBox="1"/>
          <p:nvPr/>
        </p:nvSpPr>
        <p:spPr>
          <a:xfrm>
            <a:off x="4742199" y="1665805"/>
            <a:ext cx="7422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100" kern="100" dirty="0">
                <a:latin typeface="Times New Roman" panose="02020603050405020304" pitchFamily="18" charset="0"/>
              </a:rPr>
              <a:t>Time</a:t>
            </a:r>
          </a:p>
        </p:txBody>
      </p:sp>
      <p:cxnSp>
        <p:nvCxnSpPr>
          <p:cNvPr id="10" name="直线箭头连接符 256">
            <a:extLst>
              <a:ext uri="{FF2B5EF4-FFF2-40B4-BE49-F238E27FC236}">
                <a16:creationId xmlns:a16="http://schemas.microsoft.com/office/drawing/2014/main" id="{95F40776-BEB1-618A-7BDD-1BB695D74A02}"/>
              </a:ext>
            </a:extLst>
          </p:cNvPr>
          <p:cNvCxnSpPr>
            <a:cxnSpLocks/>
          </p:cNvCxnSpPr>
          <p:nvPr/>
        </p:nvCxnSpPr>
        <p:spPr>
          <a:xfrm>
            <a:off x="966952" y="1947015"/>
            <a:ext cx="4267200" cy="59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线箭头连接符 256">
            <a:extLst>
              <a:ext uri="{FF2B5EF4-FFF2-40B4-BE49-F238E27FC236}">
                <a16:creationId xmlns:a16="http://schemas.microsoft.com/office/drawing/2014/main" id="{62E22B83-68B1-1EC6-5CAC-AA58B0F2D52E}"/>
              </a:ext>
            </a:extLst>
          </p:cNvPr>
          <p:cNvCxnSpPr>
            <a:cxnSpLocks/>
          </p:cNvCxnSpPr>
          <p:nvPr/>
        </p:nvCxnSpPr>
        <p:spPr>
          <a:xfrm flipV="1">
            <a:off x="1097373" y="1077686"/>
            <a:ext cx="0" cy="96388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AD039F7-70D1-ACD5-9AB4-F48BCB0A0940}"/>
              </a:ext>
            </a:extLst>
          </p:cNvPr>
          <p:cNvSpPr txBox="1"/>
          <p:nvPr/>
        </p:nvSpPr>
        <p:spPr>
          <a:xfrm rot="16200000">
            <a:off x="345162" y="1396314"/>
            <a:ext cx="111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100" kern="100" dirty="0">
                <a:latin typeface="Times New Roman" panose="02020603050405020304" pitchFamily="18" charset="0"/>
              </a:rPr>
              <a:t>Frequency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37C3681-FBD6-44DC-F9D0-060366676390}"/>
              </a:ext>
            </a:extLst>
          </p:cNvPr>
          <p:cNvGrpSpPr/>
          <p:nvPr/>
        </p:nvGrpSpPr>
        <p:grpSpPr>
          <a:xfrm>
            <a:off x="1219200" y="1327995"/>
            <a:ext cx="669925" cy="419897"/>
            <a:chOff x="1219200" y="1327995"/>
            <a:chExt cx="669925" cy="419897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00A14F8-F8CB-5EF2-3D1F-57D5082A159A}"/>
                </a:ext>
              </a:extLst>
            </p:cNvPr>
            <p:cNvCxnSpPr/>
            <p:nvPr/>
          </p:nvCxnSpPr>
          <p:spPr>
            <a:xfrm>
              <a:off x="1219200" y="1744717"/>
              <a:ext cx="199697" cy="0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9A73D91-E37D-F37B-B3CC-B1A82B462C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12547" y="1334345"/>
              <a:ext cx="420866" cy="413547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E91DEB6-BC7B-64D4-6F4B-BCAFE93A1B3C}"/>
                </a:ext>
              </a:extLst>
            </p:cNvPr>
            <p:cNvCxnSpPr>
              <a:cxnSpLocks/>
            </p:cNvCxnSpPr>
            <p:nvPr/>
          </p:nvCxnSpPr>
          <p:spPr>
            <a:xfrm>
              <a:off x="1830238" y="1327995"/>
              <a:ext cx="58887" cy="416722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369C362-6544-F2C3-56EB-FE7867232D04}"/>
              </a:ext>
            </a:extLst>
          </p:cNvPr>
          <p:cNvGrpSpPr/>
          <p:nvPr/>
        </p:nvGrpSpPr>
        <p:grpSpPr>
          <a:xfrm>
            <a:off x="1880803" y="1324820"/>
            <a:ext cx="669925" cy="419897"/>
            <a:chOff x="1219200" y="1327995"/>
            <a:chExt cx="669925" cy="419897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8715BC4-06AA-872C-83EA-0B51CE167995}"/>
                </a:ext>
              </a:extLst>
            </p:cNvPr>
            <p:cNvCxnSpPr/>
            <p:nvPr/>
          </p:nvCxnSpPr>
          <p:spPr>
            <a:xfrm>
              <a:off x="1219200" y="1744717"/>
              <a:ext cx="19969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A2332C1-8C25-6533-9810-6DFA40CA2D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12547" y="1334345"/>
              <a:ext cx="420866" cy="41354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8F1A32B-A064-53A0-5B23-FAB6C6887578}"/>
                </a:ext>
              </a:extLst>
            </p:cNvPr>
            <p:cNvCxnSpPr>
              <a:cxnSpLocks/>
            </p:cNvCxnSpPr>
            <p:nvPr/>
          </p:nvCxnSpPr>
          <p:spPr>
            <a:xfrm>
              <a:off x="1830238" y="1327995"/>
              <a:ext cx="58887" cy="41672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A745483-C733-085C-468A-D95C70B23CE8}"/>
              </a:ext>
            </a:extLst>
          </p:cNvPr>
          <p:cNvGrpSpPr/>
          <p:nvPr/>
        </p:nvGrpSpPr>
        <p:grpSpPr>
          <a:xfrm>
            <a:off x="3097732" y="1324820"/>
            <a:ext cx="669925" cy="419897"/>
            <a:chOff x="1219200" y="1327995"/>
            <a:chExt cx="669925" cy="419897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805E51ED-232A-6F7C-138E-9958F5C2FBF5}"/>
                </a:ext>
              </a:extLst>
            </p:cNvPr>
            <p:cNvCxnSpPr/>
            <p:nvPr/>
          </p:nvCxnSpPr>
          <p:spPr>
            <a:xfrm>
              <a:off x="1219200" y="1744717"/>
              <a:ext cx="199697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8B4D3B8A-41B2-E306-2438-0FD2AC61C0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12547" y="1334345"/>
              <a:ext cx="420866" cy="413547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CE0B35A-CF17-3B39-74BE-603D6C0517B4}"/>
                </a:ext>
              </a:extLst>
            </p:cNvPr>
            <p:cNvCxnSpPr>
              <a:cxnSpLocks/>
            </p:cNvCxnSpPr>
            <p:nvPr/>
          </p:nvCxnSpPr>
          <p:spPr>
            <a:xfrm>
              <a:off x="1830238" y="1327995"/>
              <a:ext cx="58887" cy="416722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EC6FFDD2-5AD4-F0D3-EDB0-28B32F5D9B87}"/>
              </a:ext>
            </a:extLst>
          </p:cNvPr>
          <p:cNvGrpSpPr/>
          <p:nvPr/>
        </p:nvGrpSpPr>
        <p:grpSpPr>
          <a:xfrm>
            <a:off x="3759335" y="1321645"/>
            <a:ext cx="669925" cy="419897"/>
            <a:chOff x="1219200" y="1327995"/>
            <a:chExt cx="669925" cy="419897"/>
          </a:xfrm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B364CF88-FD02-F073-0B75-EDC788ED6710}"/>
                </a:ext>
              </a:extLst>
            </p:cNvPr>
            <p:cNvCxnSpPr/>
            <p:nvPr/>
          </p:nvCxnSpPr>
          <p:spPr>
            <a:xfrm>
              <a:off x="1219200" y="1744717"/>
              <a:ext cx="199697" cy="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B94B75C5-C1B5-19FF-EC56-04A194A791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12547" y="1334345"/>
              <a:ext cx="420866" cy="413547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E9745BB6-2DC7-252C-4D53-A969179E1CD1}"/>
                </a:ext>
              </a:extLst>
            </p:cNvPr>
            <p:cNvCxnSpPr>
              <a:cxnSpLocks/>
            </p:cNvCxnSpPr>
            <p:nvPr/>
          </p:nvCxnSpPr>
          <p:spPr>
            <a:xfrm>
              <a:off x="1830238" y="1327995"/>
              <a:ext cx="58887" cy="416722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72" name="Straight Connector 471">
            <a:extLst>
              <a:ext uri="{FF2B5EF4-FFF2-40B4-BE49-F238E27FC236}">
                <a16:creationId xmlns:a16="http://schemas.microsoft.com/office/drawing/2014/main" id="{88C0D68E-D030-50B3-C7F2-539F94C9AFF0}"/>
              </a:ext>
            </a:extLst>
          </p:cNvPr>
          <p:cNvCxnSpPr>
            <a:cxnSpLocks/>
          </p:cNvCxnSpPr>
          <p:nvPr/>
        </p:nvCxnSpPr>
        <p:spPr>
          <a:xfrm>
            <a:off x="2612724" y="1708361"/>
            <a:ext cx="283613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3" name="TextBox 482">
            <a:extLst>
              <a:ext uri="{FF2B5EF4-FFF2-40B4-BE49-F238E27FC236}">
                <a16:creationId xmlns:a16="http://schemas.microsoft.com/office/drawing/2014/main" id="{4EEF18BE-1658-431F-1898-DE8FF48C315A}"/>
              </a:ext>
            </a:extLst>
          </p:cNvPr>
          <p:cNvSpPr txBox="1"/>
          <p:nvPr/>
        </p:nvSpPr>
        <p:spPr>
          <a:xfrm>
            <a:off x="1404623" y="1984417"/>
            <a:ext cx="424742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1000" kern="100" dirty="0">
                <a:latin typeface="Times New Roman" panose="02020603050405020304" pitchFamily="18" charset="0"/>
              </a:rPr>
              <a:t>FFT</a:t>
            </a:r>
          </a:p>
        </p:txBody>
      </p:sp>
      <p:cxnSp>
        <p:nvCxnSpPr>
          <p:cNvPr id="494" name="直线箭头连接符 256">
            <a:extLst>
              <a:ext uri="{FF2B5EF4-FFF2-40B4-BE49-F238E27FC236}">
                <a16:creationId xmlns:a16="http://schemas.microsoft.com/office/drawing/2014/main" id="{9BA7F642-CAFF-54E7-2B66-FD1F82949BF3}"/>
              </a:ext>
            </a:extLst>
          </p:cNvPr>
          <p:cNvCxnSpPr>
            <a:cxnSpLocks/>
            <a:stCxn id="481" idx="2"/>
          </p:cNvCxnSpPr>
          <p:nvPr/>
        </p:nvCxnSpPr>
        <p:spPr>
          <a:xfrm flipH="1">
            <a:off x="1286861" y="2165779"/>
            <a:ext cx="333369" cy="19056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/>
            <a:tailEnd type="arrow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9" name="直线箭头连接符 256">
            <a:extLst>
              <a:ext uri="{FF2B5EF4-FFF2-40B4-BE49-F238E27FC236}">
                <a16:creationId xmlns:a16="http://schemas.microsoft.com/office/drawing/2014/main" id="{89AE9964-4453-0793-D041-2791A0EBA5F3}"/>
              </a:ext>
            </a:extLst>
          </p:cNvPr>
          <p:cNvCxnSpPr>
            <a:cxnSpLocks/>
            <a:stCxn id="485" idx="2"/>
          </p:cNvCxnSpPr>
          <p:nvPr/>
        </p:nvCxnSpPr>
        <p:spPr>
          <a:xfrm flipH="1">
            <a:off x="1458514" y="2161786"/>
            <a:ext cx="824276" cy="194562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/>
            <a:tailEnd type="arrow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2" name="直线箭头连接符 256">
            <a:extLst>
              <a:ext uri="{FF2B5EF4-FFF2-40B4-BE49-F238E27FC236}">
                <a16:creationId xmlns:a16="http://schemas.microsoft.com/office/drawing/2014/main" id="{B05AF371-ACD8-47B1-4BAC-526BDB800D96}"/>
              </a:ext>
            </a:extLst>
          </p:cNvPr>
          <p:cNvCxnSpPr>
            <a:cxnSpLocks/>
          </p:cNvCxnSpPr>
          <p:nvPr/>
        </p:nvCxnSpPr>
        <p:spPr>
          <a:xfrm flipV="1">
            <a:off x="1105153" y="2347309"/>
            <a:ext cx="0" cy="103990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5" name="TextBox 1034">
            <a:extLst>
              <a:ext uri="{FF2B5EF4-FFF2-40B4-BE49-F238E27FC236}">
                <a16:creationId xmlns:a16="http://schemas.microsoft.com/office/drawing/2014/main" id="{1C1C8042-3F8C-3400-B632-A6087E4367A1}"/>
              </a:ext>
            </a:extLst>
          </p:cNvPr>
          <p:cNvSpPr txBox="1"/>
          <p:nvPr/>
        </p:nvSpPr>
        <p:spPr>
          <a:xfrm rot="16200000">
            <a:off x="162619" y="2737893"/>
            <a:ext cx="14688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100" kern="100" dirty="0">
                <a:latin typeface="Times New Roman" panose="02020603050405020304" pitchFamily="18" charset="0"/>
              </a:rPr>
              <a:t>Range</a:t>
            </a:r>
            <a:r>
              <a:rPr lang="zh-CN" altLang="en-US" sz="1100" kern="100" dirty="0">
                <a:latin typeface="Times New Roman" panose="02020603050405020304" pitchFamily="18" charset="0"/>
              </a:rPr>
              <a:t> </a:t>
            </a:r>
            <a:r>
              <a:rPr lang="en-US" altLang="zh-CN" sz="1100" kern="100" dirty="0">
                <a:latin typeface="Times New Roman" panose="02020603050405020304" pitchFamily="18" charset="0"/>
              </a:rPr>
              <a:t>(Fast</a:t>
            </a:r>
            <a:r>
              <a:rPr lang="zh-CN" altLang="en-US" sz="1100" kern="100" dirty="0">
                <a:latin typeface="Times New Roman" panose="02020603050405020304" pitchFamily="18" charset="0"/>
              </a:rPr>
              <a:t> </a:t>
            </a:r>
            <a:r>
              <a:rPr lang="en-US" altLang="zh-CN" sz="1100" kern="100" dirty="0">
                <a:latin typeface="Times New Roman" panose="02020603050405020304" pitchFamily="18" charset="0"/>
              </a:rPr>
              <a:t>Time)</a:t>
            </a:r>
          </a:p>
        </p:txBody>
      </p:sp>
      <p:cxnSp>
        <p:nvCxnSpPr>
          <p:cNvPr id="1042" name="直线箭头连接符 256">
            <a:extLst>
              <a:ext uri="{FF2B5EF4-FFF2-40B4-BE49-F238E27FC236}">
                <a16:creationId xmlns:a16="http://schemas.microsoft.com/office/drawing/2014/main" id="{063A67F8-D6EF-F207-4214-14629E38007E}"/>
              </a:ext>
            </a:extLst>
          </p:cNvPr>
          <p:cNvCxnSpPr>
            <a:cxnSpLocks/>
          </p:cNvCxnSpPr>
          <p:nvPr/>
        </p:nvCxnSpPr>
        <p:spPr>
          <a:xfrm>
            <a:off x="1205707" y="3499231"/>
            <a:ext cx="109104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9" name="TextBox 1048">
            <a:extLst>
              <a:ext uri="{FF2B5EF4-FFF2-40B4-BE49-F238E27FC236}">
                <a16:creationId xmlns:a16="http://schemas.microsoft.com/office/drawing/2014/main" id="{61B01CE3-A41B-6DFB-B8E1-5761DE2C7782}"/>
              </a:ext>
            </a:extLst>
          </p:cNvPr>
          <p:cNvSpPr txBox="1"/>
          <p:nvPr/>
        </p:nvSpPr>
        <p:spPr>
          <a:xfrm>
            <a:off x="1003797" y="3503556"/>
            <a:ext cx="14586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100" kern="100" dirty="0">
                <a:latin typeface="Times New Roman" panose="02020603050405020304" pitchFamily="18" charset="0"/>
              </a:rPr>
              <a:t>Frame</a:t>
            </a:r>
            <a:r>
              <a:rPr lang="zh-CN" altLang="en-US" sz="1100" kern="100" dirty="0">
                <a:latin typeface="Times New Roman" panose="02020603050405020304" pitchFamily="18" charset="0"/>
              </a:rPr>
              <a:t> </a:t>
            </a:r>
            <a:r>
              <a:rPr lang="en-US" altLang="zh-CN" sz="1100" kern="100" dirty="0">
                <a:latin typeface="Times New Roman" panose="02020603050405020304" pitchFamily="18" charset="0"/>
              </a:rPr>
              <a:t>(Slow</a:t>
            </a:r>
            <a:r>
              <a:rPr lang="zh-CN" altLang="en-US" sz="1100" kern="100" dirty="0">
                <a:latin typeface="Times New Roman" panose="02020603050405020304" pitchFamily="18" charset="0"/>
              </a:rPr>
              <a:t>  </a:t>
            </a:r>
            <a:r>
              <a:rPr lang="en-US" altLang="zh-CN" sz="1100" kern="100" dirty="0">
                <a:latin typeface="Times New Roman" panose="02020603050405020304" pitchFamily="18" charset="0"/>
              </a:rPr>
              <a:t>Time)</a:t>
            </a:r>
          </a:p>
        </p:txBody>
      </p:sp>
      <p:sp>
        <p:nvSpPr>
          <p:cNvPr id="1057" name="TextBox 1056">
            <a:extLst>
              <a:ext uri="{FF2B5EF4-FFF2-40B4-BE49-F238E27FC236}">
                <a16:creationId xmlns:a16="http://schemas.microsoft.com/office/drawing/2014/main" id="{77563E8D-C072-D3A5-992C-F22985A7B473}"/>
              </a:ext>
            </a:extLst>
          </p:cNvPr>
          <p:cNvSpPr txBox="1"/>
          <p:nvPr/>
        </p:nvSpPr>
        <p:spPr>
          <a:xfrm>
            <a:off x="2233453" y="3363530"/>
            <a:ext cx="424742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1000" kern="100" dirty="0">
                <a:latin typeface="Times New Roman" panose="02020603050405020304" pitchFamily="18" charset="0"/>
              </a:rPr>
              <a:t>Ch.</a:t>
            </a:r>
            <a:r>
              <a:rPr lang="zh-CN" altLang="en-US" sz="1000" kern="100" dirty="0">
                <a:latin typeface="Times New Roman" panose="02020603050405020304" pitchFamily="18" charset="0"/>
              </a:rPr>
              <a:t> </a:t>
            </a:r>
            <a:r>
              <a:rPr lang="en-US" altLang="zh-CN" sz="1000" kern="100" dirty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059" name="TextBox 1058">
            <a:extLst>
              <a:ext uri="{FF2B5EF4-FFF2-40B4-BE49-F238E27FC236}">
                <a16:creationId xmlns:a16="http://schemas.microsoft.com/office/drawing/2014/main" id="{508361CD-7303-ADF6-07E6-E4724A5494B1}"/>
              </a:ext>
            </a:extLst>
          </p:cNvPr>
          <p:cNvSpPr txBox="1"/>
          <p:nvPr/>
        </p:nvSpPr>
        <p:spPr>
          <a:xfrm>
            <a:off x="2499137" y="3275112"/>
            <a:ext cx="424742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1000" kern="100" dirty="0">
                <a:latin typeface="Times New Roman" panose="02020603050405020304" pitchFamily="18" charset="0"/>
              </a:rPr>
              <a:t>Ch.</a:t>
            </a:r>
            <a:r>
              <a:rPr lang="zh-CN" altLang="en-US" sz="1000" kern="100" dirty="0">
                <a:latin typeface="Times New Roman" panose="02020603050405020304" pitchFamily="18" charset="0"/>
              </a:rPr>
              <a:t> </a:t>
            </a:r>
            <a:r>
              <a:rPr lang="en-US" altLang="zh-CN" sz="1000" kern="100" dirty="0">
                <a:latin typeface="Times New Roman" panose="02020603050405020304" pitchFamily="18" charset="0"/>
              </a:rPr>
              <a:t>2</a:t>
            </a:r>
          </a:p>
        </p:txBody>
      </p:sp>
      <p:cxnSp>
        <p:nvCxnSpPr>
          <p:cNvPr id="1060" name="Straight Connector 1059">
            <a:extLst>
              <a:ext uri="{FF2B5EF4-FFF2-40B4-BE49-F238E27FC236}">
                <a16:creationId xmlns:a16="http://schemas.microsoft.com/office/drawing/2014/main" id="{1F023752-2113-06D4-3ACC-9BAC225F44BC}"/>
              </a:ext>
            </a:extLst>
          </p:cNvPr>
          <p:cNvCxnSpPr>
            <a:cxnSpLocks/>
          </p:cNvCxnSpPr>
          <p:nvPr/>
        </p:nvCxnSpPr>
        <p:spPr>
          <a:xfrm flipV="1">
            <a:off x="2696287" y="3114199"/>
            <a:ext cx="84491" cy="124951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5" name="TextBox 1084">
            <a:extLst>
              <a:ext uri="{FF2B5EF4-FFF2-40B4-BE49-F238E27FC236}">
                <a16:creationId xmlns:a16="http://schemas.microsoft.com/office/drawing/2014/main" id="{C36486AC-2DF9-789A-6862-3378A77F6639}"/>
              </a:ext>
            </a:extLst>
          </p:cNvPr>
          <p:cNvSpPr txBox="1"/>
          <p:nvPr/>
        </p:nvSpPr>
        <p:spPr>
          <a:xfrm>
            <a:off x="3208047" y="2746004"/>
            <a:ext cx="424742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1000" kern="100" dirty="0">
                <a:latin typeface="Times New Roman" panose="02020603050405020304" pitchFamily="18" charset="0"/>
              </a:rPr>
              <a:t>Rx</a:t>
            </a:r>
            <a:r>
              <a:rPr lang="zh-CN" altLang="en-US" sz="1000" kern="100" dirty="0">
                <a:latin typeface="Times New Roman" panose="02020603050405020304" pitchFamily="18" charset="0"/>
              </a:rPr>
              <a:t> </a:t>
            </a:r>
            <a:r>
              <a:rPr lang="en-US" altLang="zh-CN" sz="1000" kern="100" dirty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086" name="TextBox 1085">
            <a:extLst>
              <a:ext uri="{FF2B5EF4-FFF2-40B4-BE49-F238E27FC236}">
                <a16:creationId xmlns:a16="http://schemas.microsoft.com/office/drawing/2014/main" id="{D57CE7D0-1261-AB0E-0F3D-1414D9CDE052}"/>
              </a:ext>
            </a:extLst>
          </p:cNvPr>
          <p:cNvSpPr txBox="1"/>
          <p:nvPr/>
        </p:nvSpPr>
        <p:spPr>
          <a:xfrm>
            <a:off x="3577367" y="2750160"/>
            <a:ext cx="424742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1000" kern="100" dirty="0">
                <a:latin typeface="Times New Roman" panose="02020603050405020304" pitchFamily="18" charset="0"/>
              </a:rPr>
              <a:t>Rx</a:t>
            </a:r>
            <a:r>
              <a:rPr lang="zh-CN" altLang="en-US" sz="1000" kern="100" dirty="0">
                <a:latin typeface="Times New Roman" panose="02020603050405020304" pitchFamily="18" charset="0"/>
              </a:rPr>
              <a:t> </a:t>
            </a:r>
            <a:r>
              <a:rPr lang="en-US" altLang="zh-CN" sz="1000" kern="100" dirty="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640" name="TextBox 639">
            <a:extLst>
              <a:ext uri="{FF2B5EF4-FFF2-40B4-BE49-F238E27FC236}">
                <a16:creationId xmlns:a16="http://schemas.microsoft.com/office/drawing/2014/main" id="{0B645A17-D9BF-192E-80C9-0FADB3DAB8F5}"/>
              </a:ext>
            </a:extLst>
          </p:cNvPr>
          <p:cNvSpPr txBox="1"/>
          <p:nvPr/>
        </p:nvSpPr>
        <p:spPr>
          <a:xfrm>
            <a:off x="3966533" y="2746004"/>
            <a:ext cx="424742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1000" kern="100" dirty="0">
                <a:latin typeface="Times New Roman" panose="02020603050405020304" pitchFamily="18" charset="0"/>
              </a:rPr>
              <a:t>Rx</a:t>
            </a:r>
            <a:r>
              <a:rPr lang="zh-CN" altLang="en-US" sz="1000" kern="100" dirty="0">
                <a:latin typeface="Times New Roman" panose="02020603050405020304" pitchFamily="18" charset="0"/>
              </a:rPr>
              <a:t> </a:t>
            </a:r>
            <a:r>
              <a:rPr lang="en-US" altLang="zh-CN" sz="1000" kern="100" dirty="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641" name="TextBox 640">
            <a:extLst>
              <a:ext uri="{FF2B5EF4-FFF2-40B4-BE49-F238E27FC236}">
                <a16:creationId xmlns:a16="http://schemas.microsoft.com/office/drawing/2014/main" id="{038F7687-8D77-965F-F924-DE82258E8302}"/>
              </a:ext>
            </a:extLst>
          </p:cNvPr>
          <p:cNvSpPr txBox="1"/>
          <p:nvPr/>
        </p:nvSpPr>
        <p:spPr>
          <a:xfrm>
            <a:off x="4316473" y="2746004"/>
            <a:ext cx="424742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1000" kern="100" dirty="0">
                <a:latin typeface="Times New Roman" panose="02020603050405020304" pitchFamily="18" charset="0"/>
              </a:rPr>
              <a:t>Rx</a:t>
            </a:r>
            <a:r>
              <a:rPr lang="zh-CN" altLang="en-US" sz="1000" kern="100" dirty="0">
                <a:latin typeface="Times New Roman" panose="02020603050405020304" pitchFamily="18" charset="0"/>
              </a:rPr>
              <a:t> </a:t>
            </a:r>
            <a:r>
              <a:rPr lang="en-US" altLang="zh-CN" sz="1000" kern="100" dirty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642" name="TextBox 641">
            <a:extLst>
              <a:ext uri="{FF2B5EF4-FFF2-40B4-BE49-F238E27FC236}">
                <a16:creationId xmlns:a16="http://schemas.microsoft.com/office/drawing/2014/main" id="{41F2D8F4-789A-6552-0CFF-7B929C77671B}"/>
              </a:ext>
            </a:extLst>
          </p:cNvPr>
          <p:cNvSpPr txBox="1"/>
          <p:nvPr/>
        </p:nvSpPr>
        <p:spPr>
          <a:xfrm>
            <a:off x="3375308" y="1712575"/>
            <a:ext cx="424742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100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Tx1</a:t>
            </a:r>
          </a:p>
        </p:txBody>
      </p:sp>
      <p:sp>
        <p:nvSpPr>
          <p:cNvPr id="643" name="TextBox 642">
            <a:extLst>
              <a:ext uri="{FF2B5EF4-FFF2-40B4-BE49-F238E27FC236}">
                <a16:creationId xmlns:a16="http://schemas.microsoft.com/office/drawing/2014/main" id="{8D266E93-3583-18E5-E8C8-2B6A9AC7864D}"/>
              </a:ext>
            </a:extLst>
          </p:cNvPr>
          <p:cNvSpPr txBox="1"/>
          <p:nvPr/>
        </p:nvSpPr>
        <p:spPr>
          <a:xfrm>
            <a:off x="4036911" y="1708361"/>
            <a:ext cx="424742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1000" kern="100" dirty="0">
                <a:solidFill>
                  <a:srgbClr val="0070C0"/>
                </a:solidFill>
                <a:latin typeface="Times New Roman" panose="02020603050405020304" pitchFamily="18" charset="0"/>
              </a:rPr>
              <a:t>Tx2</a:t>
            </a:r>
          </a:p>
        </p:txBody>
      </p:sp>
      <p:cxnSp>
        <p:nvCxnSpPr>
          <p:cNvPr id="644" name="直线箭头连接符 256">
            <a:extLst>
              <a:ext uri="{FF2B5EF4-FFF2-40B4-BE49-F238E27FC236}">
                <a16:creationId xmlns:a16="http://schemas.microsoft.com/office/drawing/2014/main" id="{B48609AD-13E0-EF97-FB50-2E8252C997C1}"/>
              </a:ext>
            </a:extLst>
          </p:cNvPr>
          <p:cNvCxnSpPr>
            <a:cxnSpLocks/>
            <a:stCxn id="642" idx="2"/>
            <a:endCxn id="400" idx="1"/>
          </p:cNvCxnSpPr>
          <p:nvPr/>
        </p:nvCxnSpPr>
        <p:spPr>
          <a:xfrm>
            <a:off x="3587679" y="1866463"/>
            <a:ext cx="992412" cy="362232"/>
          </a:xfrm>
          <a:prstGeom prst="straightConnector1">
            <a:avLst/>
          </a:prstGeom>
          <a:ln w="12700">
            <a:solidFill>
              <a:srgbClr val="FF0000"/>
            </a:solidFill>
            <a:prstDash val="dash"/>
            <a:headEnd type="none"/>
            <a:tailEnd type="arrow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9" name="直线箭头连接符 256">
            <a:extLst>
              <a:ext uri="{FF2B5EF4-FFF2-40B4-BE49-F238E27FC236}">
                <a16:creationId xmlns:a16="http://schemas.microsoft.com/office/drawing/2014/main" id="{609F1B3C-5ADD-1873-76B3-C95C4B4BB3F4}"/>
              </a:ext>
            </a:extLst>
          </p:cNvPr>
          <p:cNvCxnSpPr>
            <a:cxnSpLocks/>
            <a:stCxn id="400" idx="1"/>
            <a:endCxn id="1204" idx="3"/>
          </p:cNvCxnSpPr>
          <p:nvPr/>
        </p:nvCxnSpPr>
        <p:spPr>
          <a:xfrm flipH="1">
            <a:off x="3781105" y="2228695"/>
            <a:ext cx="798986" cy="364262"/>
          </a:xfrm>
          <a:prstGeom prst="straightConnector1">
            <a:avLst/>
          </a:prstGeom>
          <a:ln w="12700">
            <a:solidFill>
              <a:srgbClr val="FF0000"/>
            </a:solidFill>
            <a:prstDash val="solid"/>
            <a:headEnd type="none"/>
            <a:tailEnd type="arrow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3" name="直线箭头连接符 256">
            <a:extLst>
              <a:ext uri="{FF2B5EF4-FFF2-40B4-BE49-F238E27FC236}">
                <a16:creationId xmlns:a16="http://schemas.microsoft.com/office/drawing/2014/main" id="{66E19404-1913-7A74-F42D-CA351EC1D3D7}"/>
              </a:ext>
            </a:extLst>
          </p:cNvPr>
          <p:cNvCxnSpPr>
            <a:cxnSpLocks/>
            <a:stCxn id="400" idx="1"/>
            <a:endCxn id="1207" idx="3"/>
          </p:cNvCxnSpPr>
          <p:nvPr/>
        </p:nvCxnSpPr>
        <p:spPr>
          <a:xfrm flipH="1">
            <a:off x="4163887" y="2228695"/>
            <a:ext cx="416204" cy="364120"/>
          </a:xfrm>
          <a:prstGeom prst="straightConnector1">
            <a:avLst/>
          </a:prstGeom>
          <a:ln w="12700">
            <a:solidFill>
              <a:srgbClr val="FF0000"/>
            </a:solidFill>
            <a:prstDash val="solid"/>
            <a:headEnd type="none"/>
            <a:tailEnd type="arrow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7" name="直线箭头连接符 256">
            <a:extLst>
              <a:ext uri="{FF2B5EF4-FFF2-40B4-BE49-F238E27FC236}">
                <a16:creationId xmlns:a16="http://schemas.microsoft.com/office/drawing/2014/main" id="{496B70AB-F234-02D5-ED74-878AF789C517}"/>
              </a:ext>
            </a:extLst>
          </p:cNvPr>
          <p:cNvCxnSpPr>
            <a:cxnSpLocks/>
            <a:stCxn id="400" idx="1"/>
            <a:endCxn id="1210" idx="3"/>
          </p:cNvCxnSpPr>
          <p:nvPr/>
        </p:nvCxnSpPr>
        <p:spPr>
          <a:xfrm flipH="1">
            <a:off x="4551790" y="2228695"/>
            <a:ext cx="28301" cy="364191"/>
          </a:xfrm>
          <a:prstGeom prst="straightConnector1">
            <a:avLst/>
          </a:prstGeom>
          <a:ln w="12700">
            <a:solidFill>
              <a:srgbClr val="FF0000"/>
            </a:solidFill>
            <a:prstDash val="solid"/>
            <a:headEnd type="none"/>
            <a:tailEnd type="arrow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7" name="直线箭头连接符 256">
            <a:extLst>
              <a:ext uri="{FF2B5EF4-FFF2-40B4-BE49-F238E27FC236}">
                <a16:creationId xmlns:a16="http://schemas.microsoft.com/office/drawing/2014/main" id="{BDA888BE-AB47-542A-ABA7-CBDF7FC8111F}"/>
              </a:ext>
            </a:extLst>
          </p:cNvPr>
          <p:cNvCxnSpPr>
            <a:cxnSpLocks/>
            <a:stCxn id="400" idx="1"/>
            <a:endCxn id="1204" idx="3"/>
          </p:cNvCxnSpPr>
          <p:nvPr/>
        </p:nvCxnSpPr>
        <p:spPr>
          <a:xfrm flipH="1">
            <a:off x="3781105" y="2228695"/>
            <a:ext cx="798986" cy="364262"/>
          </a:xfrm>
          <a:prstGeom prst="straightConnector1">
            <a:avLst/>
          </a:prstGeom>
          <a:ln w="12700">
            <a:solidFill>
              <a:srgbClr val="0070C0"/>
            </a:solidFill>
            <a:prstDash val="dash"/>
            <a:headEnd type="none"/>
            <a:tailEnd type="arrow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7" name="直线箭头连接符 256">
            <a:extLst>
              <a:ext uri="{FF2B5EF4-FFF2-40B4-BE49-F238E27FC236}">
                <a16:creationId xmlns:a16="http://schemas.microsoft.com/office/drawing/2014/main" id="{F52D9E69-A4C4-1A6A-BB2C-F6AA4A164517}"/>
              </a:ext>
            </a:extLst>
          </p:cNvPr>
          <p:cNvCxnSpPr>
            <a:cxnSpLocks/>
            <a:stCxn id="400" idx="1"/>
            <a:endCxn id="1207" idx="3"/>
          </p:cNvCxnSpPr>
          <p:nvPr/>
        </p:nvCxnSpPr>
        <p:spPr>
          <a:xfrm flipH="1">
            <a:off x="4163887" y="2228695"/>
            <a:ext cx="416204" cy="364120"/>
          </a:xfrm>
          <a:prstGeom prst="straightConnector1">
            <a:avLst/>
          </a:prstGeom>
          <a:ln w="12700">
            <a:solidFill>
              <a:srgbClr val="0070C0"/>
            </a:solidFill>
            <a:prstDash val="dash"/>
            <a:headEnd type="none"/>
            <a:tailEnd type="arrow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6" name="直线箭头连接符 256">
            <a:extLst>
              <a:ext uri="{FF2B5EF4-FFF2-40B4-BE49-F238E27FC236}">
                <a16:creationId xmlns:a16="http://schemas.microsoft.com/office/drawing/2014/main" id="{999BFD48-FC95-3270-9A7F-5F33E50F47ED}"/>
              </a:ext>
            </a:extLst>
          </p:cNvPr>
          <p:cNvCxnSpPr>
            <a:cxnSpLocks/>
            <a:stCxn id="400" idx="1"/>
            <a:endCxn id="1210" idx="3"/>
          </p:cNvCxnSpPr>
          <p:nvPr/>
        </p:nvCxnSpPr>
        <p:spPr>
          <a:xfrm flipH="1">
            <a:off x="4551790" y="2228695"/>
            <a:ext cx="28301" cy="364191"/>
          </a:xfrm>
          <a:prstGeom prst="straightConnector1">
            <a:avLst/>
          </a:prstGeom>
          <a:ln w="12700">
            <a:solidFill>
              <a:srgbClr val="0070C0"/>
            </a:solidFill>
            <a:prstDash val="dash"/>
            <a:headEnd type="none"/>
            <a:tailEnd type="arrow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00" name="Graphic 399" descr="Man with solid fill">
            <a:extLst>
              <a:ext uri="{FF2B5EF4-FFF2-40B4-BE49-F238E27FC236}">
                <a16:creationId xmlns:a16="http://schemas.microsoft.com/office/drawing/2014/main" id="{550F47F7-F94C-AB0B-7C8A-E5A712175C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2072" r="22407"/>
          <a:stretch/>
        </p:blipFill>
        <p:spPr>
          <a:xfrm>
            <a:off x="4580091" y="2115875"/>
            <a:ext cx="125276" cy="225639"/>
          </a:xfrm>
          <a:prstGeom prst="rect">
            <a:avLst/>
          </a:prstGeom>
        </p:spPr>
      </p:pic>
      <p:cxnSp>
        <p:nvCxnSpPr>
          <p:cNvPr id="403" name="直线箭头连接符 256">
            <a:extLst>
              <a:ext uri="{FF2B5EF4-FFF2-40B4-BE49-F238E27FC236}">
                <a16:creationId xmlns:a16="http://schemas.microsoft.com/office/drawing/2014/main" id="{A3E7178A-E475-20DB-5AC7-3C1C71D3DF3A}"/>
              </a:ext>
            </a:extLst>
          </p:cNvPr>
          <p:cNvCxnSpPr>
            <a:cxnSpLocks/>
            <a:stCxn id="643" idx="2"/>
            <a:endCxn id="400" idx="1"/>
          </p:cNvCxnSpPr>
          <p:nvPr/>
        </p:nvCxnSpPr>
        <p:spPr>
          <a:xfrm>
            <a:off x="4249282" y="1862249"/>
            <a:ext cx="330809" cy="366446"/>
          </a:xfrm>
          <a:prstGeom prst="straightConnector1">
            <a:avLst/>
          </a:prstGeom>
          <a:ln w="12700">
            <a:solidFill>
              <a:srgbClr val="0070C0"/>
            </a:solidFill>
            <a:prstDash val="dash"/>
            <a:headEnd type="none"/>
            <a:tailEnd type="arrow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6" name="直线箭头连接符 256">
            <a:extLst>
              <a:ext uri="{FF2B5EF4-FFF2-40B4-BE49-F238E27FC236}">
                <a16:creationId xmlns:a16="http://schemas.microsoft.com/office/drawing/2014/main" id="{546623A2-4488-6668-8252-9A06F8D7287E}"/>
              </a:ext>
            </a:extLst>
          </p:cNvPr>
          <p:cNvCxnSpPr>
            <a:cxnSpLocks/>
            <a:stCxn id="400" idx="1"/>
            <a:endCxn id="1199" idx="3"/>
          </p:cNvCxnSpPr>
          <p:nvPr/>
        </p:nvCxnSpPr>
        <p:spPr>
          <a:xfrm flipH="1">
            <a:off x="3393202" y="2228695"/>
            <a:ext cx="1186889" cy="364191"/>
          </a:xfrm>
          <a:prstGeom prst="straightConnector1">
            <a:avLst/>
          </a:prstGeom>
          <a:ln w="12700">
            <a:solidFill>
              <a:srgbClr val="FF0000"/>
            </a:solidFill>
            <a:prstDash val="solid"/>
            <a:headEnd type="none"/>
            <a:tailEnd type="arrow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4" name="直线箭头连接符 256">
            <a:extLst>
              <a:ext uri="{FF2B5EF4-FFF2-40B4-BE49-F238E27FC236}">
                <a16:creationId xmlns:a16="http://schemas.microsoft.com/office/drawing/2014/main" id="{4DC87DFE-1A39-36A3-F39A-899DDF6E5880}"/>
              </a:ext>
            </a:extLst>
          </p:cNvPr>
          <p:cNvCxnSpPr>
            <a:cxnSpLocks/>
            <a:stCxn id="400" idx="1"/>
            <a:endCxn id="1199" idx="3"/>
          </p:cNvCxnSpPr>
          <p:nvPr/>
        </p:nvCxnSpPr>
        <p:spPr>
          <a:xfrm flipH="1">
            <a:off x="3393202" y="2228695"/>
            <a:ext cx="1186889" cy="364191"/>
          </a:xfrm>
          <a:prstGeom prst="straightConnector1">
            <a:avLst/>
          </a:prstGeom>
          <a:ln w="12700">
            <a:solidFill>
              <a:srgbClr val="0070C0"/>
            </a:solidFill>
            <a:prstDash val="dash"/>
            <a:headEnd type="none"/>
            <a:tailEnd type="arrow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61" name="TextBox 1160">
            <a:extLst>
              <a:ext uri="{FF2B5EF4-FFF2-40B4-BE49-F238E27FC236}">
                <a16:creationId xmlns:a16="http://schemas.microsoft.com/office/drawing/2014/main" id="{E6ACBA63-80D3-24D0-B9B4-A42DC26D0EDC}"/>
              </a:ext>
            </a:extLst>
          </p:cNvPr>
          <p:cNvSpPr txBox="1"/>
          <p:nvPr/>
        </p:nvSpPr>
        <p:spPr>
          <a:xfrm>
            <a:off x="1411932" y="1699508"/>
            <a:ext cx="424742" cy="18920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1200" kern="100" dirty="0">
                <a:latin typeface="Times New Roman" panose="02020603050405020304" pitchFamily="18" charset="0"/>
              </a:rPr>
              <a:t>Chirp</a:t>
            </a:r>
          </a:p>
        </p:txBody>
      </p:sp>
      <p:sp>
        <p:nvSpPr>
          <p:cNvPr id="1162" name="TextBox 1161">
            <a:extLst>
              <a:ext uri="{FF2B5EF4-FFF2-40B4-BE49-F238E27FC236}">
                <a16:creationId xmlns:a16="http://schemas.microsoft.com/office/drawing/2014/main" id="{98F2D412-4D8A-33FB-91AD-39D549063949}"/>
              </a:ext>
            </a:extLst>
          </p:cNvPr>
          <p:cNvSpPr txBox="1"/>
          <p:nvPr/>
        </p:nvSpPr>
        <p:spPr>
          <a:xfrm>
            <a:off x="1432202" y="1045519"/>
            <a:ext cx="1100223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1200" kern="100" dirty="0">
                <a:latin typeface="Times New Roman" panose="02020603050405020304" pitchFamily="18" charset="0"/>
              </a:rPr>
              <a:t>Received</a:t>
            </a:r>
            <a:r>
              <a:rPr lang="zh-CN" altLang="en-US" sz="1200" kern="100" dirty="0">
                <a:latin typeface="Times New Roman" panose="02020603050405020304" pitchFamily="18" charset="0"/>
              </a:rPr>
              <a:t> </a:t>
            </a:r>
            <a:r>
              <a:rPr lang="en-US" altLang="zh-CN" sz="1200" kern="100" dirty="0">
                <a:latin typeface="Times New Roman" panose="02020603050405020304" pitchFamily="18" charset="0"/>
              </a:rPr>
              <a:t>Signal</a:t>
            </a:r>
          </a:p>
        </p:txBody>
      </p:sp>
      <p:sp>
        <p:nvSpPr>
          <p:cNvPr id="1191" name="Freeform 1190">
            <a:extLst>
              <a:ext uri="{FF2B5EF4-FFF2-40B4-BE49-F238E27FC236}">
                <a16:creationId xmlns:a16="http://schemas.microsoft.com/office/drawing/2014/main" id="{6F077E17-278D-87C7-09E8-F5B7F12CCC6C}"/>
              </a:ext>
            </a:extLst>
          </p:cNvPr>
          <p:cNvSpPr/>
          <p:nvPr/>
        </p:nvSpPr>
        <p:spPr>
          <a:xfrm>
            <a:off x="2058187" y="2803214"/>
            <a:ext cx="1285361" cy="642444"/>
          </a:xfrm>
          <a:custGeom>
            <a:avLst/>
            <a:gdLst>
              <a:gd name="connsiteX0" fmla="*/ 0 w 1026597"/>
              <a:gd name="connsiteY0" fmla="*/ 0 h 347808"/>
              <a:gd name="connsiteX1" fmla="*/ 650739 w 1026597"/>
              <a:gd name="connsiteY1" fmla="*/ 61708 h 347808"/>
              <a:gd name="connsiteX2" fmla="*/ 1026597 w 1026597"/>
              <a:gd name="connsiteY2" fmla="*/ 347808 h 347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26597" h="347808">
                <a:moveTo>
                  <a:pt x="0" y="0"/>
                </a:moveTo>
                <a:cubicBezTo>
                  <a:pt x="239820" y="1870"/>
                  <a:pt x="479640" y="3740"/>
                  <a:pt x="650739" y="61708"/>
                </a:cubicBezTo>
                <a:cubicBezTo>
                  <a:pt x="821839" y="119676"/>
                  <a:pt x="924218" y="233742"/>
                  <a:pt x="1026597" y="347808"/>
                </a:cubicBezTo>
              </a:path>
            </a:pathLst>
          </a:custGeom>
          <a:noFill/>
          <a:ln>
            <a:solidFill>
              <a:schemeClr val="tx1"/>
            </a:solidFill>
            <a:tailEnd type="arrow" w="sm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grpSp>
        <p:nvGrpSpPr>
          <p:cNvPr id="1201" name="Group 1200">
            <a:extLst>
              <a:ext uri="{FF2B5EF4-FFF2-40B4-BE49-F238E27FC236}">
                <a16:creationId xmlns:a16="http://schemas.microsoft.com/office/drawing/2014/main" id="{60D3BD38-AF44-0A8D-2763-22538EEFC776}"/>
              </a:ext>
            </a:extLst>
          </p:cNvPr>
          <p:cNvGrpSpPr/>
          <p:nvPr/>
        </p:nvGrpSpPr>
        <p:grpSpPr>
          <a:xfrm>
            <a:off x="3355240" y="2592886"/>
            <a:ext cx="75925" cy="190361"/>
            <a:chOff x="4869320" y="3833074"/>
            <a:chExt cx="102297" cy="256482"/>
          </a:xfrm>
        </p:grpSpPr>
        <p:cxnSp>
          <p:nvCxnSpPr>
            <p:cNvPr id="1198" name="Straight Connector 1197">
              <a:extLst>
                <a:ext uri="{FF2B5EF4-FFF2-40B4-BE49-F238E27FC236}">
                  <a16:creationId xmlns:a16="http://schemas.microsoft.com/office/drawing/2014/main" id="{BF33CA6A-FE0D-4545-D4F9-72FE580D40FB}"/>
                </a:ext>
              </a:extLst>
            </p:cNvPr>
            <p:cNvCxnSpPr>
              <a:cxnSpLocks/>
            </p:cNvCxnSpPr>
            <p:nvPr/>
          </p:nvCxnSpPr>
          <p:spPr>
            <a:xfrm>
              <a:off x="4920468" y="3921262"/>
              <a:ext cx="0" cy="168294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9" name="Triangle 1198">
              <a:extLst>
                <a:ext uri="{FF2B5EF4-FFF2-40B4-BE49-F238E27FC236}">
                  <a16:creationId xmlns:a16="http://schemas.microsoft.com/office/drawing/2014/main" id="{D7A8F367-F7DD-C959-5F8D-C2EAA2A55EE4}"/>
                </a:ext>
              </a:extLst>
            </p:cNvPr>
            <p:cNvSpPr/>
            <p:nvPr/>
          </p:nvSpPr>
          <p:spPr>
            <a:xfrm rot="10800000">
              <a:off x="4869320" y="3833074"/>
              <a:ext cx="102297" cy="88187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grpSp>
        <p:nvGrpSpPr>
          <p:cNvPr id="1202" name="Group 1201">
            <a:extLst>
              <a:ext uri="{FF2B5EF4-FFF2-40B4-BE49-F238E27FC236}">
                <a16:creationId xmlns:a16="http://schemas.microsoft.com/office/drawing/2014/main" id="{98F6AE48-9F75-2A5E-C346-3DDD08FA7789}"/>
              </a:ext>
            </a:extLst>
          </p:cNvPr>
          <p:cNvGrpSpPr/>
          <p:nvPr/>
        </p:nvGrpSpPr>
        <p:grpSpPr>
          <a:xfrm>
            <a:off x="3743143" y="2592957"/>
            <a:ext cx="75925" cy="190361"/>
            <a:chOff x="4869320" y="3833074"/>
            <a:chExt cx="102297" cy="256482"/>
          </a:xfrm>
        </p:grpSpPr>
        <p:cxnSp>
          <p:nvCxnSpPr>
            <p:cNvPr id="1203" name="Straight Connector 1202">
              <a:extLst>
                <a:ext uri="{FF2B5EF4-FFF2-40B4-BE49-F238E27FC236}">
                  <a16:creationId xmlns:a16="http://schemas.microsoft.com/office/drawing/2014/main" id="{CBB02FF0-1125-AEB7-2FD3-B2F1EE8705E7}"/>
                </a:ext>
              </a:extLst>
            </p:cNvPr>
            <p:cNvCxnSpPr>
              <a:cxnSpLocks/>
            </p:cNvCxnSpPr>
            <p:nvPr/>
          </p:nvCxnSpPr>
          <p:spPr>
            <a:xfrm>
              <a:off x="4920468" y="3921262"/>
              <a:ext cx="0" cy="168294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4" name="Triangle 1203">
              <a:extLst>
                <a:ext uri="{FF2B5EF4-FFF2-40B4-BE49-F238E27FC236}">
                  <a16:creationId xmlns:a16="http://schemas.microsoft.com/office/drawing/2014/main" id="{02BD8477-3940-C199-9BBC-488E5F6EDC0D}"/>
                </a:ext>
              </a:extLst>
            </p:cNvPr>
            <p:cNvSpPr/>
            <p:nvPr/>
          </p:nvSpPr>
          <p:spPr>
            <a:xfrm rot="10800000">
              <a:off x="4869320" y="3833074"/>
              <a:ext cx="102297" cy="88187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grpSp>
        <p:nvGrpSpPr>
          <p:cNvPr id="1205" name="Group 1204">
            <a:extLst>
              <a:ext uri="{FF2B5EF4-FFF2-40B4-BE49-F238E27FC236}">
                <a16:creationId xmlns:a16="http://schemas.microsoft.com/office/drawing/2014/main" id="{9A4F2D72-5000-3C2D-8781-006BF2ACC43B}"/>
              </a:ext>
            </a:extLst>
          </p:cNvPr>
          <p:cNvGrpSpPr/>
          <p:nvPr/>
        </p:nvGrpSpPr>
        <p:grpSpPr>
          <a:xfrm>
            <a:off x="4125925" y="2592815"/>
            <a:ext cx="75925" cy="190361"/>
            <a:chOff x="4869320" y="3833074"/>
            <a:chExt cx="102297" cy="256482"/>
          </a:xfrm>
        </p:grpSpPr>
        <p:cxnSp>
          <p:nvCxnSpPr>
            <p:cNvPr id="1206" name="Straight Connector 1205">
              <a:extLst>
                <a:ext uri="{FF2B5EF4-FFF2-40B4-BE49-F238E27FC236}">
                  <a16:creationId xmlns:a16="http://schemas.microsoft.com/office/drawing/2014/main" id="{75EE0D00-A8B6-50F1-7144-7D3A04BA092E}"/>
                </a:ext>
              </a:extLst>
            </p:cNvPr>
            <p:cNvCxnSpPr>
              <a:cxnSpLocks/>
            </p:cNvCxnSpPr>
            <p:nvPr/>
          </p:nvCxnSpPr>
          <p:spPr>
            <a:xfrm>
              <a:off x="4920468" y="3921262"/>
              <a:ext cx="0" cy="168294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7" name="Triangle 1206">
              <a:extLst>
                <a:ext uri="{FF2B5EF4-FFF2-40B4-BE49-F238E27FC236}">
                  <a16:creationId xmlns:a16="http://schemas.microsoft.com/office/drawing/2014/main" id="{79C20CB8-C6C7-E6FD-6494-34028C652994}"/>
                </a:ext>
              </a:extLst>
            </p:cNvPr>
            <p:cNvSpPr/>
            <p:nvPr/>
          </p:nvSpPr>
          <p:spPr>
            <a:xfrm rot="10800000">
              <a:off x="4869320" y="3833074"/>
              <a:ext cx="102297" cy="88187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grpSp>
        <p:nvGrpSpPr>
          <p:cNvPr id="1208" name="Group 1207">
            <a:extLst>
              <a:ext uri="{FF2B5EF4-FFF2-40B4-BE49-F238E27FC236}">
                <a16:creationId xmlns:a16="http://schemas.microsoft.com/office/drawing/2014/main" id="{F34B716F-F742-827A-50EC-BA02DC9773E5}"/>
              </a:ext>
            </a:extLst>
          </p:cNvPr>
          <p:cNvGrpSpPr/>
          <p:nvPr/>
        </p:nvGrpSpPr>
        <p:grpSpPr>
          <a:xfrm>
            <a:off x="4513828" y="2592886"/>
            <a:ext cx="75925" cy="190361"/>
            <a:chOff x="4869320" y="3833074"/>
            <a:chExt cx="102297" cy="256482"/>
          </a:xfrm>
        </p:grpSpPr>
        <p:cxnSp>
          <p:nvCxnSpPr>
            <p:cNvPr id="1209" name="Straight Connector 1208">
              <a:extLst>
                <a:ext uri="{FF2B5EF4-FFF2-40B4-BE49-F238E27FC236}">
                  <a16:creationId xmlns:a16="http://schemas.microsoft.com/office/drawing/2014/main" id="{6DAA331A-3B83-B067-EA4E-4CD967D3BEEC}"/>
                </a:ext>
              </a:extLst>
            </p:cNvPr>
            <p:cNvCxnSpPr>
              <a:cxnSpLocks/>
            </p:cNvCxnSpPr>
            <p:nvPr/>
          </p:nvCxnSpPr>
          <p:spPr>
            <a:xfrm>
              <a:off x="4920468" y="3921262"/>
              <a:ext cx="0" cy="168294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0" name="Triangle 1209">
              <a:extLst>
                <a:ext uri="{FF2B5EF4-FFF2-40B4-BE49-F238E27FC236}">
                  <a16:creationId xmlns:a16="http://schemas.microsoft.com/office/drawing/2014/main" id="{57A0D325-5DE3-714F-1FC7-4BB93B61BAFB}"/>
                </a:ext>
              </a:extLst>
            </p:cNvPr>
            <p:cNvSpPr/>
            <p:nvPr/>
          </p:nvSpPr>
          <p:spPr>
            <a:xfrm rot="10800000">
              <a:off x="4869320" y="3833074"/>
              <a:ext cx="102297" cy="88187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cxnSp>
        <p:nvCxnSpPr>
          <p:cNvPr id="1214" name="直线箭头连接符 256">
            <a:extLst>
              <a:ext uri="{FF2B5EF4-FFF2-40B4-BE49-F238E27FC236}">
                <a16:creationId xmlns:a16="http://schemas.microsoft.com/office/drawing/2014/main" id="{E1BE97CE-AC66-7224-CE42-57871E78CC0C}"/>
              </a:ext>
            </a:extLst>
          </p:cNvPr>
          <p:cNvCxnSpPr>
            <a:cxnSpLocks/>
          </p:cNvCxnSpPr>
          <p:nvPr/>
        </p:nvCxnSpPr>
        <p:spPr>
          <a:xfrm flipV="1">
            <a:off x="5890938" y="2435278"/>
            <a:ext cx="0" cy="103990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15" name="TextBox 1214">
            <a:extLst>
              <a:ext uri="{FF2B5EF4-FFF2-40B4-BE49-F238E27FC236}">
                <a16:creationId xmlns:a16="http://schemas.microsoft.com/office/drawing/2014/main" id="{6E89B633-D506-95DF-5E33-46B8D889C738}"/>
              </a:ext>
            </a:extLst>
          </p:cNvPr>
          <p:cNvSpPr txBox="1"/>
          <p:nvPr/>
        </p:nvSpPr>
        <p:spPr>
          <a:xfrm>
            <a:off x="5775921" y="3617320"/>
            <a:ext cx="15605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100" kern="100" dirty="0">
                <a:latin typeface="Times New Roman" panose="02020603050405020304" pitchFamily="18" charset="0"/>
              </a:rPr>
              <a:t>Angle</a:t>
            </a:r>
            <a:r>
              <a:rPr lang="zh-CN" altLang="en-US" sz="1100" kern="100" dirty="0">
                <a:latin typeface="Times New Roman" panose="02020603050405020304" pitchFamily="18" charset="0"/>
              </a:rPr>
              <a:t> </a:t>
            </a:r>
            <a:r>
              <a:rPr lang="en-US" altLang="zh-CN" sz="1100" kern="100" dirty="0">
                <a:latin typeface="Times New Roman" panose="02020603050405020304" pitchFamily="18" charset="0"/>
              </a:rPr>
              <a:t>of</a:t>
            </a:r>
            <a:r>
              <a:rPr lang="zh-CN" altLang="en-US" sz="1100" kern="100" dirty="0">
                <a:latin typeface="Times New Roman" panose="02020603050405020304" pitchFamily="18" charset="0"/>
              </a:rPr>
              <a:t> </a:t>
            </a:r>
            <a:r>
              <a:rPr lang="en-US" altLang="zh-CN" sz="1100" kern="100" dirty="0">
                <a:latin typeface="Times New Roman" panose="02020603050405020304" pitchFamily="18" charset="0"/>
              </a:rPr>
              <a:t>Arrival</a:t>
            </a:r>
          </a:p>
        </p:txBody>
      </p:sp>
      <p:sp>
        <p:nvSpPr>
          <p:cNvPr id="1218" name="Freeform 1217">
            <a:extLst>
              <a:ext uri="{FF2B5EF4-FFF2-40B4-BE49-F238E27FC236}">
                <a16:creationId xmlns:a16="http://schemas.microsoft.com/office/drawing/2014/main" id="{2A2A378E-F0BA-91E5-DB33-77A6CAAB4A33}"/>
              </a:ext>
            </a:extLst>
          </p:cNvPr>
          <p:cNvSpPr/>
          <p:nvPr/>
        </p:nvSpPr>
        <p:spPr>
          <a:xfrm>
            <a:off x="2335507" y="2702559"/>
            <a:ext cx="1177726" cy="726440"/>
          </a:xfrm>
          <a:custGeom>
            <a:avLst/>
            <a:gdLst>
              <a:gd name="connsiteX0" fmla="*/ 0 w 1026597"/>
              <a:gd name="connsiteY0" fmla="*/ 0 h 347808"/>
              <a:gd name="connsiteX1" fmla="*/ 650739 w 1026597"/>
              <a:gd name="connsiteY1" fmla="*/ 61708 h 347808"/>
              <a:gd name="connsiteX2" fmla="*/ 1026597 w 1026597"/>
              <a:gd name="connsiteY2" fmla="*/ 347808 h 347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26597" h="347808">
                <a:moveTo>
                  <a:pt x="0" y="0"/>
                </a:moveTo>
                <a:cubicBezTo>
                  <a:pt x="239820" y="1870"/>
                  <a:pt x="479640" y="3740"/>
                  <a:pt x="650739" y="61708"/>
                </a:cubicBezTo>
                <a:cubicBezTo>
                  <a:pt x="821839" y="119676"/>
                  <a:pt x="924218" y="233742"/>
                  <a:pt x="1026597" y="347808"/>
                </a:cubicBezTo>
              </a:path>
            </a:pathLst>
          </a:custGeom>
          <a:noFill/>
          <a:ln>
            <a:solidFill>
              <a:schemeClr val="tx1"/>
            </a:solidFill>
            <a:tailEnd type="arrow" w="sm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cxnSp>
        <p:nvCxnSpPr>
          <p:cNvPr id="1219" name="直线箭头连接符 256">
            <a:extLst>
              <a:ext uri="{FF2B5EF4-FFF2-40B4-BE49-F238E27FC236}">
                <a16:creationId xmlns:a16="http://schemas.microsoft.com/office/drawing/2014/main" id="{ABA6C9E1-B756-8228-077C-63EEAB6BEB22}"/>
              </a:ext>
            </a:extLst>
          </p:cNvPr>
          <p:cNvCxnSpPr>
            <a:cxnSpLocks/>
          </p:cNvCxnSpPr>
          <p:nvPr/>
        </p:nvCxnSpPr>
        <p:spPr>
          <a:xfrm>
            <a:off x="6031173" y="3617320"/>
            <a:ext cx="119494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21" name="TextBox 1220">
            <a:extLst>
              <a:ext uri="{FF2B5EF4-FFF2-40B4-BE49-F238E27FC236}">
                <a16:creationId xmlns:a16="http://schemas.microsoft.com/office/drawing/2014/main" id="{FB94FD35-BBC0-92FD-3277-B72B93915EDE}"/>
              </a:ext>
            </a:extLst>
          </p:cNvPr>
          <p:cNvSpPr txBox="1"/>
          <p:nvPr/>
        </p:nvSpPr>
        <p:spPr>
          <a:xfrm rot="16200000">
            <a:off x="5029904" y="2841026"/>
            <a:ext cx="135701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100" kern="100" dirty="0">
                <a:latin typeface="Times New Roman" panose="02020603050405020304" pitchFamily="18" charset="0"/>
              </a:rPr>
              <a:t>Range</a:t>
            </a:r>
            <a:r>
              <a:rPr lang="zh-CN" altLang="en-US" sz="1100" kern="100" dirty="0">
                <a:latin typeface="Times New Roman" panose="02020603050405020304" pitchFamily="18" charset="0"/>
              </a:rPr>
              <a:t> </a:t>
            </a:r>
            <a:r>
              <a:rPr lang="en-US" altLang="zh-CN" sz="1100" kern="100" dirty="0">
                <a:latin typeface="Times New Roman" panose="02020603050405020304" pitchFamily="18" charset="0"/>
              </a:rPr>
              <a:t>(Fast</a:t>
            </a:r>
            <a:r>
              <a:rPr lang="zh-CN" altLang="en-US" sz="1100" kern="100" dirty="0">
                <a:latin typeface="Times New Roman" panose="02020603050405020304" pitchFamily="18" charset="0"/>
              </a:rPr>
              <a:t> </a:t>
            </a:r>
            <a:r>
              <a:rPr lang="en-US" altLang="zh-CN" sz="1100" kern="100" dirty="0">
                <a:latin typeface="Times New Roman" panose="02020603050405020304" pitchFamily="18" charset="0"/>
              </a:rPr>
              <a:t>Time)</a:t>
            </a:r>
          </a:p>
        </p:txBody>
      </p:sp>
      <p:sp>
        <p:nvSpPr>
          <p:cNvPr id="1228" name="Right Arrow 1227">
            <a:extLst>
              <a:ext uri="{FF2B5EF4-FFF2-40B4-BE49-F238E27FC236}">
                <a16:creationId xmlns:a16="http://schemas.microsoft.com/office/drawing/2014/main" id="{BAD5351A-2A6D-69C9-5348-6AA42A3E27AB}"/>
              </a:ext>
            </a:extLst>
          </p:cNvPr>
          <p:cNvSpPr/>
          <p:nvPr/>
        </p:nvSpPr>
        <p:spPr>
          <a:xfrm rot="16200000">
            <a:off x="6438542" y="2172304"/>
            <a:ext cx="270161" cy="16065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233" name="TextBox 1232">
            <a:extLst>
              <a:ext uri="{FF2B5EF4-FFF2-40B4-BE49-F238E27FC236}">
                <a16:creationId xmlns:a16="http://schemas.microsoft.com/office/drawing/2014/main" id="{B2F46A93-7D47-3659-06AC-D216E0CB5CFD}"/>
              </a:ext>
            </a:extLst>
          </p:cNvPr>
          <p:cNvSpPr txBox="1"/>
          <p:nvPr/>
        </p:nvSpPr>
        <p:spPr>
          <a:xfrm>
            <a:off x="5591840" y="591725"/>
            <a:ext cx="180291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100" kern="100" dirty="0">
                <a:latin typeface="Times New Roman" panose="02020603050405020304" pitchFamily="18" charset="0"/>
              </a:rPr>
              <a:t>RA</a:t>
            </a:r>
            <a:r>
              <a:rPr lang="zh-CN" altLang="en-US" sz="1100" kern="100" dirty="0">
                <a:latin typeface="Times New Roman" panose="02020603050405020304" pitchFamily="18" charset="0"/>
              </a:rPr>
              <a:t> </a:t>
            </a:r>
            <a:r>
              <a:rPr lang="en-US" altLang="zh-CN" sz="1100" kern="100" dirty="0">
                <a:latin typeface="Times New Roman" panose="02020603050405020304" pitchFamily="18" charset="0"/>
              </a:rPr>
              <a:t>map</a:t>
            </a:r>
            <a:r>
              <a:rPr lang="zh-CN" altLang="en-US" sz="1100" kern="100" dirty="0">
                <a:latin typeface="Times New Roman" panose="02020603050405020304" pitchFamily="18" charset="0"/>
              </a:rPr>
              <a:t> </a:t>
            </a:r>
            <a:r>
              <a:rPr lang="en-US" altLang="zh-CN" sz="1100" kern="100" dirty="0">
                <a:latin typeface="Times New Roman" panose="02020603050405020304" pitchFamily="18" charset="0"/>
              </a:rPr>
              <a:t>for</a:t>
            </a:r>
            <a:r>
              <a:rPr lang="zh-CN" altLang="en-US" sz="1100" kern="100" dirty="0">
                <a:latin typeface="Times New Roman" panose="02020603050405020304" pitchFamily="18" charset="0"/>
              </a:rPr>
              <a:t> </a:t>
            </a:r>
            <a:r>
              <a:rPr lang="en-US" altLang="zh-CN" sz="1100" kern="100" dirty="0">
                <a:latin typeface="Times New Roman" panose="02020603050405020304" pitchFamily="18" charset="0"/>
              </a:rPr>
              <a:t>single</a:t>
            </a:r>
            <a:r>
              <a:rPr lang="zh-CN" altLang="en-US" sz="1100" kern="100" dirty="0">
                <a:latin typeface="Times New Roman" panose="02020603050405020304" pitchFamily="18" charset="0"/>
              </a:rPr>
              <a:t> </a:t>
            </a:r>
            <a:r>
              <a:rPr lang="en-US" altLang="zh-CN" sz="1100" kern="100" dirty="0">
                <a:latin typeface="Times New Roman" panose="02020603050405020304" pitchFamily="18" charset="0"/>
              </a:rPr>
              <a:t>frame</a:t>
            </a:r>
          </a:p>
        </p:txBody>
      </p:sp>
      <p:sp>
        <p:nvSpPr>
          <p:cNvPr id="1235" name="Right Arrow 1234">
            <a:extLst>
              <a:ext uri="{FF2B5EF4-FFF2-40B4-BE49-F238E27FC236}">
                <a16:creationId xmlns:a16="http://schemas.microsoft.com/office/drawing/2014/main" id="{6ED0CE6C-B744-A66C-8AF6-0930F9E4B703}"/>
              </a:ext>
            </a:extLst>
          </p:cNvPr>
          <p:cNvSpPr/>
          <p:nvPr/>
        </p:nvSpPr>
        <p:spPr>
          <a:xfrm rot="5400000">
            <a:off x="3855815" y="3068961"/>
            <a:ext cx="315658" cy="1693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236" name="TextBox 1235">
            <a:extLst>
              <a:ext uri="{FF2B5EF4-FFF2-40B4-BE49-F238E27FC236}">
                <a16:creationId xmlns:a16="http://schemas.microsoft.com/office/drawing/2014/main" id="{5D1CB350-8451-0DD4-1CC5-0D08FCF30A42}"/>
              </a:ext>
            </a:extLst>
          </p:cNvPr>
          <p:cNvSpPr txBox="1"/>
          <p:nvPr/>
        </p:nvSpPr>
        <p:spPr>
          <a:xfrm>
            <a:off x="4152651" y="3052373"/>
            <a:ext cx="971531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1000" kern="100" dirty="0">
                <a:latin typeface="Times New Roman" panose="02020603050405020304" pitchFamily="18" charset="0"/>
              </a:rPr>
              <a:t>8</a:t>
            </a:r>
            <a:r>
              <a:rPr lang="zh-CN" altLang="en-US" sz="1000" kern="100" dirty="0">
                <a:latin typeface="Times New Roman" panose="02020603050405020304" pitchFamily="18" charset="0"/>
              </a:rPr>
              <a:t> </a:t>
            </a:r>
            <a:r>
              <a:rPr lang="en-US" altLang="zh-CN" sz="1000" kern="100" dirty="0">
                <a:latin typeface="Times New Roman" panose="02020603050405020304" pitchFamily="18" charset="0"/>
              </a:rPr>
              <a:t>Virtual</a:t>
            </a:r>
            <a:r>
              <a:rPr lang="zh-CN" altLang="en-US" sz="1000" kern="100" dirty="0">
                <a:latin typeface="Times New Roman" panose="02020603050405020304" pitchFamily="18" charset="0"/>
              </a:rPr>
              <a:t> </a:t>
            </a:r>
            <a:r>
              <a:rPr lang="en-US" altLang="zh-CN" sz="1000" kern="100" dirty="0">
                <a:latin typeface="Times New Roman" panose="02020603050405020304" pitchFamily="18" charset="0"/>
              </a:rPr>
              <a:t>Channels</a:t>
            </a:r>
          </a:p>
        </p:txBody>
      </p:sp>
      <p:graphicFrame>
        <p:nvGraphicFramePr>
          <p:cNvPr id="1239" name="Table 1238">
            <a:extLst>
              <a:ext uri="{FF2B5EF4-FFF2-40B4-BE49-F238E27FC236}">
                <a16:creationId xmlns:a16="http://schemas.microsoft.com/office/drawing/2014/main" id="{7A631E39-F85E-3D6B-4BB7-C08D3B18AD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7288547"/>
              </p:ext>
            </p:extLst>
          </p:nvPr>
        </p:nvGraphicFramePr>
        <p:xfrm>
          <a:off x="3270368" y="3447087"/>
          <a:ext cx="121127" cy="122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127">
                  <a:extLst>
                    <a:ext uri="{9D8B030D-6E8A-4147-A177-3AD203B41FA5}">
                      <a16:colId xmlns:a16="http://schemas.microsoft.com/office/drawing/2014/main" val="3704925597"/>
                    </a:ext>
                  </a:extLst>
                </a:gridCol>
              </a:tblGrid>
              <a:tr h="87088"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8338084"/>
                  </a:ext>
                </a:extLst>
              </a:tr>
            </a:tbl>
          </a:graphicData>
        </a:graphic>
      </p:graphicFrame>
      <p:graphicFrame>
        <p:nvGraphicFramePr>
          <p:cNvPr id="1240" name="Table 1239">
            <a:extLst>
              <a:ext uri="{FF2B5EF4-FFF2-40B4-BE49-F238E27FC236}">
                <a16:creationId xmlns:a16="http://schemas.microsoft.com/office/drawing/2014/main" id="{950BF4A0-3860-C5DD-41F8-C2BEECCC1C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393346"/>
              </p:ext>
            </p:extLst>
          </p:nvPr>
        </p:nvGraphicFramePr>
        <p:xfrm>
          <a:off x="3463104" y="3443026"/>
          <a:ext cx="121127" cy="122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127">
                  <a:extLst>
                    <a:ext uri="{9D8B030D-6E8A-4147-A177-3AD203B41FA5}">
                      <a16:colId xmlns:a16="http://schemas.microsoft.com/office/drawing/2014/main" val="3704925597"/>
                    </a:ext>
                  </a:extLst>
                </a:gridCol>
              </a:tblGrid>
              <a:tr h="87088"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8338084"/>
                  </a:ext>
                </a:extLst>
              </a:tr>
            </a:tbl>
          </a:graphicData>
        </a:graphic>
      </p:graphicFrame>
      <p:graphicFrame>
        <p:nvGraphicFramePr>
          <p:cNvPr id="1241" name="Table 1240">
            <a:extLst>
              <a:ext uri="{FF2B5EF4-FFF2-40B4-BE49-F238E27FC236}">
                <a16:creationId xmlns:a16="http://schemas.microsoft.com/office/drawing/2014/main" id="{8929485C-C428-C681-4C14-60D2962BAD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858394"/>
              </p:ext>
            </p:extLst>
          </p:nvPr>
        </p:nvGraphicFramePr>
        <p:xfrm>
          <a:off x="3660319" y="3443026"/>
          <a:ext cx="121127" cy="122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127">
                  <a:extLst>
                    <a:ext uri="{9D8B030D-6E8A-4147-A177-3AD203B41FA5}">
                      <a16:colId xmlns:a16="http://schemas.microsoft.com/office/drawing/2014/main" val="3704925597"/>
                    </a:ext>
                  </a:extLst>
                </a:gridCol>
              </a:tblGrid>
              <a:tr h="87088"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8338084"/>
                  </a:ext>
                </a:extLst>
              </a:tr>
            </a:tbl>
          </a:graphicData>
        </a:graphic>
      </p:graphicFrame>
      <p:graphicFrame>
        <p:nvGraphicFramePr>
          <p:cNvPr id="1242" name="Table 1241">
            <a:extLst>
              <a:ext uri="{FF2B5EF4-FFF2-40B4-BE49-F238E27FC236}">
                <a16:creationId xmlns:a16="http://schemas.microsoft.com/office/drawing/2014/main" id="{5CB220B2-F095-995F-196E-4D42BEE579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8390058"/>
              </p:ext>
            </p:extLst>
          </p:nvPr>
        </p:nvGraphicFramePr>
        <p:xfrm>
          <a:off x="3860264" y="3445658"/>
          <a:ext cx="121127" cy="122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127">
                  <a:extLst>
                    <a:ext uri="{9D8B030D-6E8A-4147-A177-3AD203B41FA5}">
                      <a16:colId xmlns:a16="http://schemas.microsoft.com/office/drawing/2014/main" val="3704925597"/>
                    </a:ext>
                  </a:extLst>
                </a:gridCol>
              </a:tblGrid>
              <a:tr h="87088"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8338084"/>
                  </a:ext>
                </a:extLst>
              </a:tr>
            </a:tbl>
          </a:graphicData>
        </a:graphic>
      </p:graphicFrame>
      <p:graphicFrame>
        <p:nvGraphicFramePr>
          <p:cNvPr id="1243" name="Table 1242">
            <a:extLst>
              <a:ext uri="{FF2B5EF4-FFF2-40B4-BE49-F238E27FC236}">
                <a16:creationId xmlns:a16="http://schemas.microsoft.com/office/drawing/2014/main" id="{9316CE23-6FA4-DEE0-5B54-95DC408A8F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7523794"/>
              </p:ext>
            </p:extLst>
          </p:nvPr>
        </p:nvGraphicFramePr>
        <p:xfrm>
          <a:off x="4053000" y="3441597"/>
          <a:ext cx="121127" cy="122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127">
                  <a:extLst>
                    <a:ext uri="{9D8B030D-6E8A-4147-A177-3AD203B41FA5}">
                      <a16:colId xmlns:a16="http://schemas.microsoft.com/office/drawing/2014/main" val="3704925597"/>
                    </a:ext>
                  </a:extLst>
                </a:gridCol>
              </a:tblGrid>
              <a:tr h="87088"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8338084"/>
                  </a:ext>
                </a:extLst>
              </a:tr>
            </a:tbl>
          </a:graphicData>
        </a:graphic>
      </p:graphicFrame>
      <p:graphicFrame>
        <p:nvGraphicFramePr>
          <p:cNvPr id="1244" name="Table 1243">
            <a:extLst>
              <a:ext uri="{FF2B5EF4-FFF2-40B4-BE49-F238E27FC236}">
                <a16:creationId xmlns:a16="http://schemas.microsoft.com/office/drawing/2014/main" id="{8CBE1C14-785D-1A8C-8A45-6BF2DD4BA7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8890268"/>
              </p:ext>
            </p:extLst>
          </p:nvPr>
        </p:nvGraphicFramePr>
        <p:xfrm>
          <a:off x="4250215" y="3441597"/>
          <a:ext cx="121127" cy="122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127">
                  <a:extLst>
                    <a:ext uri="{9D8B030D-6E8A-4147-A177-3AD203B41FA5}">
                      <a16:colId xmlns:a16="http://schemas.microsoft.com/office/drawing/2014/main" val="3704925597"/>
                    </a:ext>
                  </a:extLst>
                </a:gridCol>
              </a:tblGrid>
              <a:tr h="87088"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8338084"/>
                  </a:ext>
                </a:extLst>
              </a:tr>
            </a:tbl>
          </a:graphicData>
        </a:graphic>
      </p:graphicFrame>
      <p:graphicFrame>
        <p:nvGraphicFramePr>
          <p:cNvPr id="1245" name="Table 1244">
            <a:extLst>
              <a:ext uri="{FF2B5EF4-FFF2-40B4-BE49-F238E27FC236}">
                <a16:creationId xmlns:a16="http://schemas.microsoft.com/office/drawing/2014/main" id="{54F559A0-521A-18D7-A3A0-871EBB5113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8232535"/>
              </p:ext>
            </p:extLst>
          </p:nvPr>
        </p:nvGraphicFramePr>
        <p:xfrm>
          <a:off x="4445681" y="3443314"/>
          <a:ext cx="121127" cy="122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127">
                  <a:extLst>
                    <a:ext uri="{9D8B030D-6E8A-4147-A177-3AD203B41FA5}">
                      <a16:colId xmlns:a16="http://schemas.microsoft.com/office/drawing/2014/main" val="3704925597"/>
                    </a:ext>
                  </a:extLst>
                </a:gridCol>
              </a:tblGrid>
              <a:tr h="87088"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8338084"/>
                  </a:ext>
                </a:extLst>
              </a:tr>
            </a:tbl>
          </a:graphicData>
        </a:graphic>
      </p:graphicFrame>
      <p:graphicFrame>
        <p:nvGraphicFramePr>
          <p:cNvPr id="1248" name="Table 1247">
            <a:extLst>
              <a:ext uri="{FF2B5EF4-FFF2-40B4-BE49-F238E27FC236}">
                <a16:creationId xmlns:a16="http://schemas.microsoft.com/office/drawing/2014/main" id="{DB66087F-F95F-33FB-7D3A-4D62C7CF22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224195"/>
              </p:ext>
            </p:extLst>
          </p:nvPr>
        </p:nvGraphicFramePr>
        <p:xfrm>
          <a:off x="4638417" y="3444553"/>
          <a:ext cx="121127" cy="122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127">
                  <a:extLst>
                    <a:ext uri="{9D8B030D-6E8A-4147-A177-3AD203B41FA5}">
                      <a16:colId xmlns:a16="http://schemas.microsoft.com/office/drawing/2014/main" val="3704925597"/>
                    </a:ext>
                  </a:extLst>
                </a:gridCol>
              </a:tblGrid>
              <a:tr h="87088">
                <a:tc>
                  <a:txBody>
                    <a:bodyPr/>
                    <a:lstStyle/>
                    <a:p>
                      <a:endParaRPr lang="en-CN" sz="600" dirty="0"/>
                    </a:p>
                  </a:txBody>
                  <a:tcPr marL="31489" marR="31489" marT="15745" marB="15745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8338084"/>
                  </a:ext>
                </a:extLst>
              </a:tr>
            </a:tbl>
          </a:graphicData>
        </a:graphic>
      </p:graphicFrame>
      <p:sp>
        <p:nvSpPr>
          <p:cNvPr id="1253" name="TextBox 1252">
            <a:extLst>
              <a:ext uri="{FF2B5EF4-FFF2-40B4-BE49-F238E27FC236}">
                <a16:creationId xmlns:a16="http://schemas.microsoft.com/office/drawing/2014/main" id="{F86FE93D-0F26-0FF0-60D8-749FD57EE727}"/>
              </a:ext>
            </a:extLst>
          </p:cNvPr>
          <p:cNvSpPr txBox="1"/>
          <p:nvPr/>
        </p:nvSpPr>
        <p:spPr>
          <a:xfrm>
            <a:off x="4778167" y="3427435"/>
            <a:ext cx="424742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1000" kern="100" dirty="0">
                <a:latin typeface="Times New Roman" panose="02020603050405020304" pitchFamily="18" charset="0"/>
              </a:rPr>
              <a:t>FFT</a:t>
            </a:r>
          </a:p>
        </p:txBody>
      </p:sp>
      <p:cxnSp>
        <p:nvCxnSpPr>
          <p:cNvPr id="1309" name="Straight Connector 1308">
            <a:extLst>
              <a:ext uri="{FF2B5EF4-FFF2-40B4-BE49-F238E27FC236}">
                <a16:creationId xmlns:a16="http://schemas.microsoft.com/office/drawing/2014/main" id="{77CCCEE3-5688-4C50-C647-ACE05D30BBE1}"/>
              </a:ext>
            </a:extLst>
          </p:cNvPr>
          <p:cNvCxnSpPr>
            <a:cxnSpLocks/>
          </p:cNvCxnSpPr>
          <p:nvPr/>
        </p:nvCxnSpPr>
        <p:spPr>
          <a:xfrm>
            <a:off x="4496609" y="1715618"/>
            <a:ext cx="283613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2" name="圆角矩形 32">
            <a:extLst>
              <a:ext uri="{FF2B5EF4-FFF2-40B4-BE49-F238E27FC236}">
                <a16:creationId xmlns:a16="http://schemas.microsoft.com/office/drawing/2014/main" id="{75767814-0005-44BF-7B10-7C28E47A7CA2}"/>
              </a:ext>
            </a:extLst>
          </p:cNvPr>
          <p:cNvSpPr/>
          <p:nvPr/>
        </p:nvSpPr>
        <p:spPr>
          <a:xfrm>
            <a:off x="702509" y="754380"/>
            <a:ext cx="2226403" cy="2995534"/>
          </a:xfrm>
          <a:prstGeom prst="roundRect">
            <a:avLst>
              <a:gd name="adj" fmla="val 7828"/>
            </a:avLst>
          </a:prstGeom>
          <a:noFill/>
          <a:ln w="19050">
            <a:solidFill>
              <a:schemeClr val="accent2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524"/>
          </a:p>
        </p:txBody>
      </p:sp>
      <p:sp>
        <p:nvSpPr>
          <p:cNvPr id="1314" name="TextBox 1313">
            <a:extLst>
              <a:ext uri="{FF2B5EF4-FFF2-40B4-BE49-F238E27FC236}">
                <a16:creationId xmlns:a16="http://schemas.microsoft.com/office/drawing/2014/main" id="{2D7241B9-54A2-25CC-748B-02772529471D}"/>
              </a:ext>
            </a:extLst>
          </p:cNvPr>
          <p:cNvSpPr txBox="1"/>
          <p:nvPr/>
        </p:nvSpPr>
        <p:spPr>
          <a:xfrm>
            <a:off x="751715" y="802228"/>
            <a:ext cx="1706414" cy="184666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r>
              <a:rPr lang="en-US" altLang="zh-CN" sz="1200" b="1" kern="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</a:rPr>
              <a:t>(a)</a:t>
            </a:r>
            <a:r>
              <a:rPr lang="zh-CN" altLang="en-US" sz="1200" b="1" kern="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1200" b="1" kern="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</a:rPr>
              <a:t>Range</a:t>
            </a:r>
            <a:r>
              <a:rPr lang="zh-CN" altLang="en-US" sz="1200" b="1" kern="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1200" b="1" kern="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</a:rPr>
              <a:t>FFT</a:t>
            </a:r>
            <a:endParaRPr lang="en-CN" sz="12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315" name="圆角矩形 32">
            <a:extLst>
              <a:ext uri="{FF2B5EF4-FFF2-40B4-BE49-F238E27FC236}">
                <a16:creationId xmlns:a16="http://schemas.microsoft.com/office/drawing/2014/main" id="{18FA1FE0-45ED-0DC5-88D6-1D651848A0E0}"/>
              </a:ext>
            </a:extLst>
          </p:cNvPr>
          <p:cNvSpPr/>
          <p:nvPr/>
        </p:nvSpPr>
        <p:spPr>
          <a:xfrm>
            <a:off x="3061807" y="748959"/>
            <a:ext cx="2232788" cy="3002005"/>
          </a:xfrm>
          <a:prstGeom prst="roundRect">
            <a:avLst>
              <a:gd name="adj" fmla="val 7828"/>
            </a:avLst>
          </a:prstGeom>
          <a:noFill/>
          <a:ln w="19050">
            <a:solidFill>
              <a:schemeClr val="accent2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524"/>
          </a:p>
        </p:txBody>
      </p:sp>
      <p:sp>
        <p:nvSpPr>
          <p:cNvPr id="1316" name="TextBox 1315">
            <a:extLst>
              <a:ext uri="{FF2B5EF4-FFF2-40B4-BE49-F238E27FC236}">
                <a16:creationId xmlns:a16="http://schemas.microsoft.com/office/drawing/2014/main" id="{F71A7505-3D05-D523-03DD-931468947156}"/>
              </a:ext>
            </a:extLst>
          </p:cNvPr>
          <p:cNvSpPr txBox="1"/>
          <p:nvPr/>
        </p:nvSpPr>
        <p:spPr>
          <a:xfrm>
            <a:off x="3140659" y="803990"/>
            <a:ext cx="2169176" cy="184666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r>
              <a:rPr lang="en-US" altLang="zh-CN" sz="1200" b="1" kern="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</a:rPr>
              <a:t>(b)</a:t>
            </a:r>
            <a:r>
              <a:rPr lang="zh-CN" altLang="en-US" sz="1200" b="1" kern="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1200" b="1" kern="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</a:rPr>
              <a:t>Angle</a:t>
            </a:r>
            <a:r>
              <a:rPr lang="zh-CN" altLang="en-US" sz="1200" b="1" kern="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1200" b="1" kern="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</a:rPr>
              <a:t>FFT</a:t>
            </a:r>
            <a:endParaRPr lang="en-CN" sz="12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163" name="TextBox 1162">
            <a:extLst>
              <a:ext uri="{FF2B5EF4-FFF2-40B4-BE49-F238E27FC236}">
                <a16:creationId xmlns:a16="http://schemas.microsoft.com/office/drawing/2014/main" id="{09314DB7-B562-C8FF-FA98-56CE9DFA6BFC}"/>
              </a:ext>
            </a:extLst>
          </p:cNvPr>
          <p:cNvSpPr txBox="1"/>
          <p:nvPr/>
        </p:nvSpPr>
        <p:spPr>
          <a:xfrm>
            <a:off x="3288374" y="1050783"/>
            <a:ext cx="1328615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1200" kern="100" dirty="0">
                <a:latin typeface="Times New Roman" panose="02020603050405020304" pitchFamily="18" charset="0"/>
              </a:rPr>
              <a:t>Transmitted</a:t>
            </a:r>
            <a:r>
              <a:rPr lang="zh-CN" altLang="en-US" sz="1200" kern="100" dirty="0">
                <a:latin typeface="Times New Roman" panose="02020603050405020304" pitchFamily="18" charset="0"/>
              </a:rPr>
              <a:t> </a:t>
            </a:r>
            <a:r>
              <a:rPr lang="en-US" altLang="zh-CN" sz="1200" kern="100" dirty="0">
                <a:latin typeface="Times New Roman" panose="02020603050405020304" pitchFamily="18" charset="0"/>
              </a:rPr>
              <a:t>Signal</a:t>
            </a:r>
          </a:p>
        </p:txBody>
      </p:sp>
      <p:sp>
        <p:nvSpPr>
          <p:cNvPr id="1317" name="TextBox 1316">
            <a:extLst>
              <a:ext uri="{FF2B5EF4-FFF2-40B4-BE49-F238E27FC236}">
                <a16:creationId xmlns:a16="http://schemas.microsoft.com/office/drawing/2014/main" id="{75E86CA6-35DB-D1CB-DAB4-08DA5930AE4B}"/>
              </a:ext>
            </a:extLst>
          </p:cNvPr>
          <p:cNvSpPr txBox="1"/>
          <p:nvPr/>
        </p:nvSpPr>
        <p:spPr>
          <a:xfrm>
            <a:off x="3181120" y="2043688"/>
            <a:ext cx="971531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1000" kern="100" dirty="0">
                <a:latin typeface="Times New Roman" panose="02020603050405020304" pitchFamily="18" charset="0"/>
              </a:rPr>
              <a:t>TDM-MIMO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20" name="TextBox 1319">
                <a:extLst>
                  <a:ext uri="{FF2B5EF4-FFF2-40B4-BE49-F238E27FC236}">
                    <a16:creationId xmlns:a16="http://schemas.microsoft.com/office/drawing/2014/main" id="{9A7F7892-0CE2-8D0B-5CC9-DCD0E9453DF9}"/>
                  </a:ext>
                </a:extLst>
              </p:cNvPr>
              <p:cNvSpPr txBox="1"/>
              <p:nvPr/>
            </p:nvSpPr>
            <p:spPr>
              <a:xfrm>
                <a:off x="4608648" y="2303611"/>
                <a:ext cx="172316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kern="100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0" i="1" kern="100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CN" sz="1100" b="0" i="1" kern="100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sz="1100" kern="10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20" name="TextBox 1319">
                <a:extLst>
                  <a:ext uri="{FF2B5EF4-FFF2-40B4-BE49-F238E27FC236}">
                    <a16:creationId xmlns:a16="http://schemas.microsoft.com/office/drawing/2014/main" id="{9A7F7892-0CE2-8D0B-5CC9-DCD0E9453D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8648" y="2303611"/>
                <a:ext cx="172316" cy="261610"/>
              </a:xfrm>
              <a:prstGeom prst="rect">
                <a:avLst/>
              </a:prstGeom>
              <a:blipFill>
                <a:blip r:embed="rId6"/>
                <a:stretch>
                  <a:fillRect l="-2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1" name="TextBox 1320">
                <a:extLst>
                  <a:ext uri="{FF2B5EF4-FFF2-40B4-BE49-F238E27FC236}">
                    <a16:creationId xmlns:a16="http://schemas.microsoft.com/office/drawing/2014/main" id="{E476C873-670F-D1C3-CAA1-D7BA32FC7C3D}"/>
                  </a:ext>
                </a:extLst>
              </p:cNvPr>
              <p:cNvSpPr txBox="1"/>
              <p:nvPr/>
            </p:nvSpPr>
            <p:spPr>
              <a:xfrm>
                <a:off x="3163088" y="2232818"/>
                <a:ext cx="776183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kern="100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0" i="1" kern="100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CN" sz="1100" b="0" i="1" kern="100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1100" b="0" i="1" kern="100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100" i="1" kern="100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i="1" kern="100" dirty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CN" sz="1100" b="0" i="1" kern="100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altLang="zh-CN" sz="1100" kern="10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21" name="TextBox 1320">
                <a:extLst>
                  <a:ext uri="{FF2B5EF4-FFF2-40B4-BE49-F238E27FC236}">
                    <a16:creationId xmlns:a16="http://schemas.microsoft.com/office/drawing/2014/main" id="{E476C873-670F-D1C3-CAA1-D7BA32FC7C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3088" y="2232818"/>
                <a:ext cx="776183" cy="2616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reeform 2">
            <a:extLst>
              <a:ext uri="{FF2B5EF4-FFF2-40B4-BE49-F238E27FC236}">
                <a16:creationId xmlns:a16="http://schemas.microsoft.com/office/drawing/2014/main" id="{8785609B-8079-CF0E-3BC0-A7F95FFECE58}"/>
              </a:ext>
            </a:extLst>
          </p:cNvPr>
          <p:cNvSpPr/>
          <p:nvPr/>
        </p:nvSpPr>
        <p:spPr>
          <a:xfrm>
            <a:off x="4992526" y="3021921"/>
            <a:ext cx="1154002" cy="880753"/>
          </a:xfrm>
          <a:custGeom>
            <a:avLst/>
            <a:gdLst>
              <a:gd name="connsiteX0" fmla="*/ 0 w 1154002"/>
              <a:gd name="connsiteY0" fmla="*/ 611230 h 880753"/>
              <a:gd name="connsiteX1" fmla="*/ 361848 w 1154002"/>
              <a:gd name="connsiteY1" fmla="*/ 875281 h 880753"/>
              <a:gd name="connsiteX2" fmla="*/ 831273 w 1154002"/>
              <a:gd name="connsiteY2" fmla="*/ 723696 h 880753"/>
              <a:gd name="connsiteX3" fmla="*/ 1154002 w 1154002"/>
              <a:gd name="connsiteY3" fmla="*/ 0 h 880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4002" h="880753">
                <a:moveTo>
                  <a:pt x="0" y="611230"/>
                </a:moveTo>
                <a:cubicBezTo>
                  <a:pt x="111651" y="733883"/>
                  <a:pt x="223303" y="856537"/>
                  <a:pt x="361848" y="875281"/>
                </a:cubicBezTo>
                <a:cubicBezTo>
                  <a:pt x="500393" y="894025"/>
                  <a:pt x="699247" y="869576"/>
                  <a:pt x="831273" y="723696"/>
                </a:cubicBezTo>
                <a:cubicBezTo>
                  <a:pt x="963299" y="577816"/>
                  <a:pt x="1058650" y="288908"/>
                  <a:pt x="1154002" y="0"/>
                </a:cubicBezTo>
              </a:path>
            </a:pathLst>
          </a:custGeom>
          <a:noFill/>
          <a:ln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05675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72606</TotalTime>
  <Words>76</Words>
  <Application>Microsoft Macintosh PowerPoint</Application>
  <PresentationFormat>Widescreen</PresentationFormat>
  <Paragraphs>28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Times New Roman</vt:lpstr>
      <vt:lpstr>Office 主题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</dc:creator>
  <cp:lastModifiedBy>Zhang, Yuanyuan [sgyzh127]</cp:lastModifiedBy>
  <cp:revision>365</cp:revision>
  <cp:lastPrinted>2021-09-11T15:09:31Z</cp:lastPrinted>
  <dcterms:created xsi:type="dcterms:W3CDTF">2021-09-09T10:17:34Z</dcterms:created>
  <dcterms:modified xsi:type="dcterms:W3CDTF">2025-05-08T09:40:48Z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2052-3.1.1.4956</vt:lpwstr>
  </property>
</Properties>
</file>